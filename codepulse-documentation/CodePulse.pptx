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3" r:id="rId7"/>
    <p:sldId id="264" r:id="rId8"/>
    <p:sldId id="265" r:id="rId9"/>
    <p:sldId id="266" r:id="rId10"/>
    <p:sldId id="267" r:id="rId11"/>
    <p:sldId id="268" r:id="rId12"/>
    <p:sldId id="275" r:id="rId13"/>
  </p:sldIdLst>
  <p:sldSz cx="18288000" cy="10287000"/>
  <p:notesSz cx="6858000" cy="9144000"/>
  <p:embeddedFontLst>
    <p:embeddedFont>
      <p:font typeface="Koho" panose="020B0604020202020204" charset="-34"/>
      <p:regular r:id="rId15"/>
    </p:embeddedFont>
    <p:embeddedFont>
      <p:font typeface="Koho Bold" panose="020B0604020202020204" charset="-34"/>
      <p:regular r:id="rId16"/>
    </p:embeddedFont>
    <p:embeddedFont>
      <p:font typeface="Neo Tech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81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553BB-8A3D-42A7-A2EF-DDBC67D27514}" type="datetimeFigureOut">
              <a:rPr lang="en-SG" smtClean="0"/>
              <a:t>19/5/2026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E5C2C2-C669-4536-ABFA-443B354483F5}" type="slidenum">
              <a:rPr lang="en-SG" smtClean="0"/>
              <a:t>‹#›</a:t>
            </a:fld>
            <a:endParaRPr lang="en-SG"/>
          </a:p>
        </p:txBody>
      </p:sp>
    </p:spTree>
    <p:extLst>
      <p:ext uri="{BB962C8B-B14F-4D97-AF65-F5344CB8AC3E}">
        <p14:creationId xmlns:p14="http://schemas.microsoft.com/office/powerpoint/2010/main" val="3755502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C8568CD-F0AD-4D41-BE7F-8FF4F2B88C84}" type="datetime1">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C594DF-65DE-489A-847D-34C3F45E521B}" type="datetime1">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73209F-E6B2-441F-B4BE-BD7CAF8D17F9}" type="datetime1">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E7604A2-F1AE-4DF0-8A40-06956D1B6C69}" type="datetime1">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F790956-C753-4A4F-87CA-47471D8BC1A6}" type="datetime1">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6D0422-75CD-471E-BFC7-3454706B5E6A}" type="datetime1">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43FB66-3F7D-4BA1-B0BD-393DA4D10315}" type="datetime1">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7EBC6E-8BA7-41CA-B13C-DAE8F09BC7A6}" type="datetime1">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29ECEA-267D-4241-9471-1992F7864A69}" type="datetime1">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1B6FB5-59EC-448E-834C-9C5EC0F5F054}" type="datetime1">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48FABC-EC31-472A-A153-96049079407C}" type="datetime1">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871702-560A-4592-95EF-F6B313575989}" type="datetime1">
              <a:rPr lang="en-US" smtClean="0"/>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21704" y="2431568"/>
            <a:ext cx="10169694" cy="3160032"/>
          </a:xfrm>
          <a:prstGeom prst="rect">
            <a:avLst/>
          </a:prstGeom>
        </p:spPr>
        <p:txBody>
          <a:bodyPr lIns="0" tIns="0" rIns="0" bIns="0" rtlCol="0" anchor="t">
            <a:spAutoFit/>
          </a:bodyPr>
          <a:lstStyle/>
          <a:p>
            <a:pPr marL="0" lvl="0" indent="0" algn="l">
              <a:lnSpc>
                <a:spcPts val="8478"/>
              </a:lnSpc>
            </a:pPr>
            <a:r>
              <a:rPr lang="en-US" sz="6000" b="1" dirty="0">
                <a:solidFill>
                  <a:srgbClr val="005FC2"/>
                </a:solidFill>
                <a:latin typeface="Neo Tech Bold"/>
                <a:ea typeface="Neo Tech Bold"/>
                <a:cs typeface="Neo Tech Bold"/>
                <a:sym typeface="Neo Tech Bold"/>
              </a:rPr>
              <a:t>CODEPULSE — INTELLIGENT CODING PERFORMANCE ANALYZER</a:t>
            </a:r>
          </a:p>
        </p:txBody>
      </p:sp>
      <p:sp>
        <p:nvSpPr>
          <p:cNvPr id="4" name="TextBox 4"/>
          <p:cNvSpPr txBox="1"/>
          <p:nvPr/>
        </p:nvSpPr>
        <p:spPr>
          <a:xfrm>
            <a:off x="4800600" y="6210300"/>
            <a:ext cx="10859543" cy="2440925"/>
          </a:xfrm>
          <a:prstGeom prst="rect">
            <a:avLst/>
          </a:prstGeom>
        </p:spPr>
        <p:txBody>
          <a:bodyPr wrap="square" lIns="0" tIns="0" rIns="0" bIns="0" rtlCol="0" anchor="t">
            <a:spAutoFit/>
          </a:bodyPr>
          <a:lstStyle/>
          <a:p>
            <a:pPr marL="0" lvl="0" indent="0" algn="l">
              <a:lnSpc>
                <a:spcPts val="2103"/>
              </a:lnSpc>
            </a:pPr>
            <a:r>
              <a:rPr lang="en-US" sz="2800" b="1" dirty="0">
                <a:solidFill>
                  <a:srgbClr val="005FC2"/>
                </a:solidFill>
                <a:latin typeface="Koho Bold"/>
                <a:ea typeface="Koho Bold"/>
                <a:cs typeface="Koho Bold"/>
                <a:sym typeface="Koho Bold"/>
              </a:rPr>
              <a:t>SPL3 Project Proposal Presentation</a:t>
            </a:r>
          </a:p>
          <a:p>
            <a:pPr marL="0" lvl="0" indent="0" algn="l">
              <a:lnSpc>
                <a:spcPts val="2103"/>
              </a:lnSpc>
            </a:pPr>
            <a:endParaRPr lang="en-US" sz="2800" b="1" dirty="0">
              <a:solidFill>
                <a:srgbClr val="005FC2"/>
              </a:solidFill>
              <a:latin typeface="Koho Bold"/>
              <a:ea typeface="Koho Bold"/>
              <a:cs typeface="Koho Bold"/>
              <a:sym typeface="Koho Bold"/>
            </a:endParaRPr>
          </a:p>
          <a:p>
            <a:pPr marL="0" lvl="0" indent="0" algn="l">
              <a:lnSpc>
                <a:spcPts val="2103"/>
              </a:lnSpc>
            </a:pPr>
            <a:r>
              <a:rPr lang="en-US" sz="2800" b="1" dirty="0">
                <a:solidFill>
                  <a:srgbClr val="005FC2"/>
                </a:solidFill>
                <a:latin typeface="Koho Bold"/>
                <a:ea typeface="Koho Bold"/>
                <a:cs typeface="Koho Bold"/>
                <a:sym typeface="Koho Bold"/>
              </a:rPr>
              <a:t>Abdus Salam Islam Badhon (BSSE-1401)</a:t>
            </a:r>
          </a:p>
          <a:p>
            <a:pPr marL="0" lvl="0" indent="0" algn="l">
              <a:lnSpc>
                <a:spcPts val="2103"/>
              </a:lnSpc>
            </a:pPr>
            <a:endParaRPr lang="en-US" sz="2800" b="1" dirty="0">
              <a:solidFill>
                <a:srgbClr val="005FC2"/>
              </a:solidFill>
              <a:latin typeface="Koho Bold"/>
              <a:ea typeface="Koho Bold"/>
              <a:cs typeface="Koho Bold"/>
              <a:sym typeface="Koho Bold"/>
            </a:endParaRPr>
          </a:p>
          <a:p>
            <a:pPr marL="0" lvl="0" indent="0" algn="l">
              <a:lnSpc>
                <a:spcPts val="2103"/>
              </a:lnSpc>
            </a:pPr>
            <a:r>
              <a:rPr lang="en-US" sz="2800" b="1" dirty="0">
                <a:solidFill>
                  <a:srgbClr val="005FC2"/>
                </a:solidFill>
                <a:latin typeface="Koho Bold"/>
                <a:ea typeface="Koho Bold"/>
                <a:cs typeface="Koho Bold"/>
                <a:sym typeface="Koho Bold"/>
              </a:rPr>
              <a:t>Supervisor:</a:t>
            </a:r>
          </a:p>
          <a:p>
            <a:pPr marL="0" lvl="0" indent="0" algn="l">
              <a:lnSpc>
                <a:spcPts val="2103"/>
              </a:lnSpc>
            </a:pPr>
            <a:endParaRPr lang="en-US" sz="2800" b="1" dirty="0">
              <a:solidFill>
                <a:srgbClr val="005FC2"/>
              </a:solidFill>
              <a:latin typeface="Koho Bold"/>
              <a:ea typeface="Koho Bold"/>
              <a:cs typeface="Koho Bold"/>
              <a:sym typeface="Koho Bold"/>
            </a:endParaRPr>
          </a:p>
          <a:p>
            <a:pPr marL="0" lvl="0" indent="0" algn="l">
              <a:lnSpc>
                <a:spcPts val="2103"/>
              </a:lnSpc>
            </a:pPr>
            <a:r>
              <a:rPr lang="en-US" sz="2800" b="1" dirty="0">
                <a:solidFill>
                  <a:srgbClr val="005FC2"/>
                </a:solidFill>
                <a:latin typeface="Koho Bold"/>
                <a:ea typeface="Koho Bold"/>
                <a:cs typeface="Koho Bold"/>
                <a:sym typeface="Koho Bold"/>
              </a:rPr>
              <a:t>Mohd. </a:t>
            </a:r>
            <a:r>
              <a:rPr lang="en-US" sz="2800" b="1" dirty="0" err="1">
                <a:solidFill>
                  <a:srgbClr val="005FC2"/>
                </a:solidFill>
                <a:latin typeface="Koho Bold"/>
                <a:ea typeface="Koho Bold"/>
                <a:cs typeface="Koho Bold"/>
                <a:sym typeface="Koho Bold"/>
              </a:rPr>
              <a:t>Zulfiquar</a:t>
            </a:r>
            <a:r>
              <a:rPr lang="en-US" sz="2800" b="1" dirty="0">
                <a:solidFill>
                  <a:srgbClr val="005FC2"/>
                </a:solidFill>
                <a:latin typeface="Koho Bold"/>
                <a:ea typeface="Koho Bold"/>
                <a:cs typeface="Koho Bold"/>
                <a:sym typeface="Koho Bold"/>
              </a:rPr>
              <a:t> Hafiz (</a:t>
            </a:r>
            <a:r>
              <a:rPr lang="en-US" sz="2800" b="1" dirty="0" err="1">
                <a:solidFill>
                  <a:srgbClr val="005FC2"/>
                </a:solidFill>
                <a:latin typeface="Koho Bold"/>
                <a:ea typeface="Koho Bold"/>
                <a:cs typeface="Koho Bold"/>
                <a:sym typeface="Koho Bold"/>
              </a:rPr>
              <a:t>Zuel</a:t>
            </a:r>
            <a:r>
              <a:rPr lang="en-US" sz="2800" b="1" dirty="0">
                <a:solidFill>
                  <a:srgbClr val="005FC2"/>
                </a:solidFill>
                <a:latin typeface="Koho Bold"/>
                <a:ea typeface="Koho Bold"/>
                <a:cs typeface="Koho Bold"/>
                <a:sym typeface="Koho Bold"/>
              </a:rPr>
              <a:t>)</a:t>
            </a:r>
          </a:p>
          <a:p>
            <a:pPr marL="0" lvl="0" indent="0" algn="l">
              <a:lnSpc>
                <a:spcPts val="2103"/>
              </a:lnSpc>
            </a:pPr>
            <a:endParaRPr lang="en-US" sz="2800" b="1" dirty="0">
              <a:solidFill>
                <a:srgbClr val="005FC2"/>
              </a:solidFill>
              <a:latin typeface="Koho Bold"/>
              <a:ea typeface="Koho Bold"/>
              <a:cs typeface="Koho Bold"/>
              <a:sym typeface="Koho Bold"/>
            </a:endParaRPr>
          </a:p>
          <a:p>
            <a:pPr marL="0" lvl="0" indent="0" algn="l">
              <a:lnSpc>
                <a:spcPts val="2103"/>
              </a:lnSpc>
            </a:pPr>
            <a:r>
              <a:rPr lang="en-US" sz="2800" b="1" dirty="0">
                <a:solidFill>
                  <a:srgbClr val="005FC2"/>
                </a:solidFill>
                <a:latin typeface="Koho Bold"/>
                <a:ea typeface="Koho Bold"/>
                <a:cs typeface="Koho Bold"/>
                <a:sym typeface="Koho Bold"/>
              </a:rPr>
              <a:t>Professor ,IIT, University Of Dhaka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4" name="Freeform 4"/>
          <p:cNvSpPr/>
          <p:nvPr/>
        </p:nvSpPr>
        <p:spPr>
          <a:xfrm>
            <a:off x="838200" y="1730462"/>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sp>
      <p:sp>
        <p:nvSpPr>
          <p:cNvPr id="5" name="TextBox 5"/>
          <p:cNvSpPr txBox="1"/>
          <p:nvPr/>
        </p:nvSpPr>
        <p:spPr>
          <a:xfrm>
            <a:off x="4336389" y="401119"/>
            <a:ext cx="9615222" cy="1238250"/>
          </a:xfrm>
          <a:prstGeom prst="rect">
            <a:avLst/>
          </a:prstGeom>
        </p:spPr>
        <p:txBody>
          <a:bodyPr lIns="0" tIns="0" rIns="0" bIns="0" rtlCol="0" anchor="t">
            <a:spAutoFit/>
          </a:bodyPr>
          <a:lstStyle/>
          <a:p>
            <a:pPr marL="0" lvl="0" indent="0" algn="ctr">
              <a:lnSpc>
                <a:spcPts val="8549"/>
              </a:lnSpc>
            </a:pPr>
            <a:r>
              <a:rPr lang="en-US" sz="7500" b="1" dirty="0">
                <a:solidFill>
                  <a:srgbClr val="FFFFFF"/>
                </a:solidFill>
                <a:latin typeface="Neo Tech Bold"/>
                <a:ea typeface="Neo Tech Bold"/>
                <a:cs typeface="Neo Tech Bold"/>
                <a:sym typeface="Neo Tech Bold"/>
              </a:rPr>
              <a:t>TABLE OF CONTENTS</a:t>
            </a:r>
          </a:p>
        </p:txBody>
      </p:sp>
      <p:sp>
        <p:nvSpPr>
          <p:cNvPr id="6" name="TextBox 6"/>
          <p:cNvSpPr txBox="1"/>
          <p:nvPr/>
        </p:nvSpPr>
        <p:spPr>
          <a:xfrm>
            <a:off x="1981200" y="1881601"/>
            <a:ext cx="2355189"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Introduction</a:t>
            </a:r>
          </a:p>
        </p:txBody>
      </p:sp>
      <p:sp>
        <p:nvSpPr>
          <p:cNvPr id="2" name="Freeform 4">
            <a:extLst>
              <a:ext uri="{FF2B5EF4-FFF2-40B4-BE49-F238E27FC236}">
                <a16:creationId xmlns:a16="http://schemas.microsoft.com/office/drawing/2014/main" id="{146EF867-E69A-052E-AB0F-4A8F42645F27}"/>
              </a:ext>
            </a:extLst>
          </p:cNvPr>
          <p:cNvSpPr/>
          <p:nvPr/>
        </p:nvSpPr>
        <p:spPr>
          <a:xfrm>
            <a:off x="838200" y="2716777"/>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sp>
      <p:sp>
        <p:nvSpPr>
          <p:cNvPr id="3" name="TextBox 6">
            <a:extLst>
              <a:ext uri="{FF2B5EF4-FFF2-40B4-BE49-F238E27FC236}">
                <a16:creationId xmlns:a16="http://schemas.microsoft.com/office/drawing/2014/main" id="{B41085EE-8EC8-08D1-66CA-09901422EA41}"/>
              </a:ext>
            </a:extLst>
          </p:cNvPr>
          <p:cNvSpPr txBox="1"/>
          <p:nvPr/>
        </p:nvSpPr>
        <p:spPr>
          <a:xfrm>
            <a:off x="1981200" y="2867916"/>
            <a:ext cx="2355189"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Motivation</a:t>
            </a:r>
          </a:p>
        </p:txBody>
      </p:sp>
      <p:sp>
        <p:nvSpPr>
          <p:cNvPr id="11" name="Freeform 4">
            <a:extLst>
              <a:ext uri="{FF2B5EF4-FFF2-40B4-BE49-F238E27FC236}">
                <a16:creationId xmlns:a16="http://schemas.microsoft.com/office/drawing/2014/main" id="{DF740D35-5493-E24C-8E70-E9C37ED54CDC}"/>
              </a:ext>
            </a:extLst>
          </p:cNvPr>
          <p:cNvSpPr/>
          <p:nvPr/>
        </p:nvSpPr>
        <p:spPr>
          <a:xfrm>
            <a:off x="838200" y="3740997"/>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sp>
      <p:sp>
        <p:nvSpPr>
          <p:cNvPr id="13" name="Freeform 4">
            <a:extLst>
              <a:ext uri="{FF2B5EF4-FFF2-40B4-BE49-F238E27FC236}">
                <a16:creationId xmlns:a16="http://schemas.microsoft.com/office/drawing/2014/main" id="{A8EDE367-CC47-7003-05F0-914440D36CCC}"/>
              </a:ext>
            </a:extLst>
          </p:cNvPr>
          <p:cNvSpPr/>
          <p:nvPr/>
        </p:nvSpPr>
        <p:spPr>
          <a:xfrm>
            <a:off x="838200" y="4727312"/>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sp>
      <p:sp>
        <p:nvSpPr>
          <p:cNvPr id="14" name="TextBox 6">
            <a:extLst>
              <a:ext uri="{FF2B5EF4-FFF2-40B4-BE49-F238E27FC236}">
                <a16:creationId xmlns:a16="http://schemas.microsoft.com/office/drawing/2014/main" id="{9F9A8333-D2EE-DB67-B1A6-86120F1A0677}"/>
              </a:ext>
            </a:extLst>
          </p:cNvPr>
          <p:cNvSpPr txBox="1"/>
          <p:nvPr/>
        </p:nvSpPr>
        <p:spPr>
          <a:xfrm>
            <a:off x="1886950" y="4825261"/>
            <a:ext cx="2837450"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Proposed Solution</a:t>
            </a:r>
          </a:p>
        </p:txBody>
      </p:sp>
      <p:sp>
        <p:nvSpPr>
          <p:cNvPr id="15" name="Freeform 4">
            <a:extLst>
              <a:ext uri="{FF2B5EF4-FFF2-40B4-BE49-F238E27FC236}">
                <a16:creationId xmlns:a16="http://schemas.microsoft.com/office/drawing/2014/main" id="{99E2E825-E007-7DA2-06B7-26C60FDCA64B}"/>
              </a:ext>
            </a:extLst>
          </p:cNvPr>
          <p:cNvSpPr/>
          <p:nvPr/>
        </p:nvSpPr>
        <p:spPr>
          <a:xfrm>
            <a:off x="838200" y="5708256"/>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sp>
      <p:sp>
        <p:nvSpPr>
          <p:cNvPr id="16" name="TextBox 6">
            <a:extLst>
              <a:ext uri="{FF2B5EF4-FFF2-40B4-BE49-F238E27FC236}">
                <a16:creationId xmlns:a16="http://schemas.microsoft.com/office/drawing/2014/main" id="{AC6B9738-1178-0332-82A1-3A95F44D3B08}"/>
              </a:ext>
            </a:extLst>
          </p:cNvPr>
          <p:cNvSpPr txBox="1"/>
          <p:nvPr/>
        </p:nvSpPr>
        <p:spPr>
          <a:xfrm>
            <a:off x="1886951" y="5837935"/>
            <a:ext cx="2837449"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System Modules</a:t>
            </a:r>
          </a:p>
        </p:txBody>
      </p:sp>
      <p:sp>
        <p:nvSpPr>
          <p:cNvPr id="17" name="Freeform 4">
            <a:extLst>
              <a:ext uri="{FF2B5EF4-FFF2-40B4-BE49-F238E27FC236}">
                <a16:creationId xmlns:a16="http://schemas.microsoft.com/office/drawing/2014/main" id="{8B061C4D-4098-C113-8A54-F08120DBE68D}"/>
              </a:ext>
            </a:extLst>
          </p:cNvPr>
          <p:cNvSpPr/>
          <p:nvPr/>
        </p:nvSpPr>
        <p:spPr>
          <a:xfrm>
            <a:off x="838200" y="6691816"/>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txBody>
          <a:bodyPr/>
          <a:lstStyle/>
          <a:p>
            <a:endParaRPr lang="en-SG" dirty="0"/>
          </a:p>
        </p:txBody>
      </p:sp>
      <p:sp>
        <p:nvSpPr>
          <p:cNvPr id="18" name="TextBox 6">
            <a:extLst>
              <a:ext uri="{FF2B5EF4-FFF2-40B4-BE49-F238E27FC236}">
                <a16:creationId xmlns:a16="http://schemas.microsoft.com/office/drawing/2014/main" id="{610A7BDF-CE4C-6E45-7BC1-1C10DD65A3C9}"/>
              </a:ext>
            </a:extLst>
          </p:cNvPr>
          <p:cNvSpPr txBox="1"/>
          <p:nvPr/>
        </p:nvSpPr>
        <p:spPr>
          <a:xfrm>
            <a:off x="1885179" y="6821493"/>
            <a:ext cx="2837449"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System Workflow</a:t>
            </a:r>
          </a:p>
        </p:txBody>
      </p:sp>
      <p:sp>
        <p:nvSpPr>
          <p:cNvPr id="19" name="TextBox 6">
            <a:extLst>
              <a:ext uri="{FF2B5EF4-FFF2-40B4-BE49-F238E27FC236}">
                <a16:creationId xmlns:a16="http://schemas.microsoft.com/office/drawing/2014/main" id="{1D8C0459-6B3E-044D-E9E8-E29AEF46AAFE}"/>
              </a:ext>
            </a:extLst>
          </p:cNvPr>
          <p:cNvSpPr txBox="1"/>
          <p:nvPr/>
        </p:nvSpPr>
        <p:spPr>
          <a:xfrm>
            <a:off x="1943986" y="3916571"/>
            <a:ext cx="3542414"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Problem Statement</a:t>
            </a:r>
          </a:p>
        </p:txBody>
      </p:sp>
      <p:sp>
        <p:nvSpPr>
          <p:cNvPr id="20" name="Freeform 4">
            <a:extLst>
              <a:ext uri="{FF2B5EF4-FFF2-40B4-BE49-F238E27FC236}">
                <a16:creationId xmlns:a16="http://schemas.microsoft.com/office/drawing/2014/main" id="{F055D1B3-59AD-5EF7-E5CE-B5FE5B6CD2F8}"/>
              </a:ext>
            </a:extLst>
          </p:cNvPr>
          <p:cNvSpPr/>
          <p:nvPr/>
        </p:nvSpPr>
        <p:spPr>
          <a:xfrm>
            <a:off x="838200" y="7735674"/>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sp>
      <p:sp>
        <p:nvSpPr>
          <p:cNvPr id="21" name="TextBox 6">
            <a:extLst>
              <a:ext uri="{FF2B5EF4-FFF2-40B4-BE49-F238E27FC236}">
                <a16:creationId xmlns:a16="http://schemas.microsoft.com/office/drawing/2014/main" id="{BD5E02B8-2D83-753B-7C4D-C1365F7ED3AA}"/>
              </a:ext>
            </a:extLst>
          </p:cNvPr>
          <p:cNvSpPr txBox="1"/>
          <p:nvPr/>
        </p:nvSpPr>
        <p:spPr>
          <a:xfrm>
            <a:off x="1886951" y="7865353"/>
            <a:ext cx="2837449"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Technology Stack</a:t>
            </a:r>
          </a:p>
        </p:txBody>
      </p:sp>
      <p:sp>
        <p:nvSpPr>
          <p:cNvPr id="22" name="Freeform 4">
            <a:extLst>
              <a:ext uri="{FF2B5EF4-FFF2-40B4-BE49-F238E27FC236}">
                <a16:creationId xmlns:a16="http://schemas.microsoft.com/office/drawing/2014/main" id="{535073B6-FB1D-72D5-0552-6A24C16B1414}"/>
              </a:ext>
            </a:extLst>
          </p:cNvPr>
          <p:cNvSpPr/>
          <p:nvPr/>
        </p:nvSpPr>
        <p:spPr>
          <a:xfrm>
            <a:off x="838200" y="8719234"/>
            <a:ext cx="665955" cy="669725"/>
          </a:xfrm>
          <a:custGeom>
            <a:avLst/>
            <a:gdLst/>
            <a:ahLst/>
            <a:cxnLst/>
            <a:rect l="l" t="t" r="r" b="b"/>
            <a:pathLst>
              <a:path w="665955" h="669725">
                <a:moveTo>
                  <a:pt x="0" y="0"/>
                </a:moveTo>
                <a:lnTo>
                  <a:pt x="665956" y="0"/>
                </a:lnTo>
                <a:lnTo>
                  <a:pt x="665956" y="669725"/>
                </a:lnTo>
                <a:lnTo>
                  <a:pt x="0" y="669725"/>
                </a:lnTo>
                <a:lnTo>
                  <a:pt x="0" y="0"/>
                </a:lnTo>
                <a:close/>
              </a:path>
            </a:pathLst>
          </a:custGeom>
          <a:blipFill>
            <a:blip r:embed="rId2"/>
            <a:stretch>
              <a:fillRect/>
            </a:stretch>
          </a:blipFill>
        </p:spPr>
        <p:txBody>
          <a:bodyPr/>
          <a:lstStyle/>
          <a:p>
            <a:endParaRPr lang="en-SG" dirty="0"/>
          </a:p>
        </p:txBody>
      </p:sp>
      <p:sp>
        <p:nvSpPr>
          <p:cNvPr id="23" name="TextBox 6">
            <a:extLst>
              <a:ext uri="{FF2B5EF4-FFF2-40B4-BE49-F238E27FC236}">
                <a16:creationId xmlns:a16="http://schemas.microsoft.com/office/drawing/2014/main" id="{DD822FC2-431F-1A38-6F24-8D3A29C55055}"/>
              </a:ext>
            </a:extLst>
          </p:cNvPr>
          <p:cNvSpPr txBox="1"/>
          <p:nvPr/>
        </p:nvSpPr>
        <p:spPr>
          <a:xfrm>
            <a:off x="1885179" y="8848911"/>
            <a:ext cx="3372621" cy="410369"/>
          </a:xfrm>
          <a:prstGeom prst="rect">
            <a:avLst/>
          </a:prstGeom>
        </p:spPr>
        <p:txBody>
          <a:bodyPr wrap="square" lIns="0" tIns="0" rIns="0" bIns="0" rtlCol="0" anchor="t">
            <a:spAutoFit/>
          </a:bodyPr>
          <a:lstStyle/>
          <a:p>
            <a:pPr marL="0" lvl="0" indent="0" algn="l">
              <a:lnSpc>
                <a:spcPts val="3191"/>
              </a:lnSpc>
            </a:pPr>
            <a:r>
              <a:rPr lang="en-US" sz="2799" dirty="0">
                <a:solidFill>
                  <a:srgbClr val="FFFFFF"/>
                </a:solidFill>
                <a:latin typeface="Koho"/>
                <a:ea typeface="Koho"/>
                <a:cs typeface="Koho"/>
                <a:sym typeface="Koho"/>
              </a:rPr>
              <a:t>System Architecture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57800" y="723900"/>
            <a:ext cx="10894849" cy="1238250"/>
          </a:xfrm>
          <a:prstGeom prst="rect">
            <a:avLst/>
          </a:prstGeom>
        </p:spPr>
        <p:txBody>
          <a:bodyPr lIns="0" tIns="0" rIns="0" bIns="0" rtlCol="0" anchor="t">
            <a:spAutoFit/>
          </a:bodyPr>
          <a:lstStyle/>
          <a:p>
            <a:pPr marL="0" lvl="0" indent="0" algn="l">
              <a:lnSpc>
                <a:spcPts val="8549"/>
              </a:lnSpc>
            </a:pPr>
            <a:r>
              <a:rPr lang="en-US" sz="7500" b="1" dirty="0">
                <a:solidFill>
                  <a:srgbClr val="005FC2"/>
                </a:solidFill>
                <a:latin typeface="Neo Tech Bold"/>
                <a:ea typeface="Neo Tech Bold"/>
                <a:cs typeface="Neo Tech Bold"/>
                <a:sym typeface="Neo Tech Bold"/>
              </a:rPr>
              <a:t>INTRODUCTION</a:t>
            </a:r>
          </a:p>
        </p:txBody>
      </p:sp>
      <p:sp>
        <p:nvSpPr>
          <p:cNvPr id="3" name="TextBox 3"/>
          <p:cNvSpPr txBox="1"/>
          <p:nvPr/>
        </p:nvSpPr>
        <p:spPr>
          <a:xfrm>
            <a:off x="1371600" y="2857500"/>
            <a:ext cx="14781049" cy="5763309"/>
          </a:xfrm>
          <a:prstGeom prst="rect">
            <a:avLst/>
          </a:prstGeom>
        </p:spPr>
        <p:txBody>
          <a:bodyPr wrap="square" lIns="0" tIns="0" rIns="0" bIns="0" rtlCol="0" anchor="t">
            <a:spAutoFit/>
          </a:bodyPr>
          <a:lstStyle/>
          <a:p>
            <a:pPr marL="0" lvl="0" indent="0" algn="just">
              <a:lnSpc>
                <a:spcPts val="3191"/>
              </a:lnSpc>
            </a:pPr>
            <a:r>
              <a:rPr lang="en-US" sz="4000" dirty="0" err="1">
                <a:solidFill>
                  <a:srgbClr val="005FC2"/>
                </a:solidFill>
                <a:latin typeface="Koho"/>
                <a:ea typeface="Koho"/>
                <a:cs typeface="Koho"/>
                <a:sym typeface="Koho"/>
              </a:rPr>
              <a:t>CodePulse</a:t>
            </a:r>
            <a:r>
              <a:rPr lang="en-US" sz="4000" dirty="0">
                <a:solidFill>
                  <a:srgbClr val="005FC2"/>
                </a:solidFill>
                <a:latin typeface="Koho"/>
                <a:ea typeface="Koho"/>
                <a:cs typeface="Koho"/>
                <a:sym typeface="Koho"/>
              </a:rPr>
              <a:t> is an intelligent coding performance analyzer designed to transform how programmers improve their skills. While popular coding platforms like </a:t>
            </a:r>
            <a:r>
              <a:rPr lang="en-US" sz="4000" dirty="0" err="1">
                <a:solidFill>
                  <a:srgbClr val="005FC2"/>
                </a:solidFill>
                <a:latin typeface="Koho"/>
                <a:ea typeface="Koho"/>
                <a:cs typeface="Koho"/>
                <a:sym typeface="Koho"/>
              </a:rPr>
              <a:t>Codeforces</a:t>
            </a:r>
            <a:r>
              <a:rPr lang="en-US" sz="4000" dirty="0">
                <a:solidFill>
                  <a:srgbClr val="005FC2"/>
                </a:solidFill>
                <a:latin typeface="Koho"/>
                <a:ea typeface="Koho"/>
                <a:cs typeface="Koho"/>
                <a:sym typeface="Koho"/>
              </a:rPr>
              <a:t> provide practice opportunities, they lack unified performance analysis and actionable insights.</a:t>
            </a:r>
          </a:p>
          <a:p>
            <a:pPr marL="0" lvl="0" indent="0" algn="just">
              <a:lnSpc>
                <a:spcPts val="3191"/>
              </a:lnSpc>
            </a:pPr>
            <a:endParaRPr lang="en-US" sz="4000" dirty="0">
              <a:solidFill>
                <a:srgbClr val="005FC2"/>
              </a:solidFill>
              <a:latin typeface="Koho"/>
              <a:ea typeface="Koho"/>
              <a:cs typeface="Koho"/>
              <a:sym typeface="Koho"/>
            </a:endParaRPr>
          </a:p>
          <a:p>
            <a:pPr marL="0" lvl="0" indent="0" algn="just">
              <a:lnSpc>
                <a:spcPts val="3191"/>
              </a:lnSpc>
            </a:pPr>
            <a:r>
              <a:rPr lang="en-US" sz="4000" dirty="0" err="1">
                <a:solidFill>
                  <a:srgbClr val="005FC2"/>
                </a:solidFill>
                <a:latin typeface="Koho"/>
                <a:ea typeface="Koho"/>
                <a:cs typeface="Koho"/>
                <a:sym typeface="Koho"/>
              </a:rPr>
              <a:t>CodePulse</a:t>
            </a:r>
            <a:r>
              <a:rPr lang="en-US" sz="4000" dirty="0">
                <a:solidFill>
                  <a:srgbClr val="005FC2"/>
                </a:solidFill>
                <a:latin typeface="Koho"/>
                <a:ea typeface="Koho"/>
                <a:cs typeface="Koho"/>
                <a:sym typeface="Koho"/>
              </a:rPr>
              <a:t> bridges this gap by analyzing coding data to identify weaknesses, track progress, and guide learning paths. Our target users include competitive programmers seeking to level up, computer science students preparing for assessments, and job candidates preparing for technical interviews.</a:t>
            </a:r>
          </a:p>
          <a:p>
            <a:pPr marL="0" lvl="0" indent="0" algn="just">
              <a:lnSpc>
                <a:spcPts val="3191"/>
              </a:lnSpc>
            </a:pPr>
            <a:endParaRPr lang="en-US" sz="4000" dirty="0">
              <a:solidFill>
                <a:srgbClr val="005FC2"/>
              </a:solidFill>
              <a:latin typeface="Koho"/>
              <a:ea typeface="Koho"/>
              <a:cs typeface="Koho"/>
              <a:sym typeface="Koho"/>
            </a:endParaRPr>
          </a:p>
          <a:p>
            <a:pPr marL="0" lvl="0" indent="0" algn="just">
              <a:lnSpc>
                <a:spcPts val="3191"/>
              </a:lnSpc>
            </a:pPr>
            <a:r>
              <a:rPr lang="en-US" sz="4000" dirty="0">
                <a:solidFill>
                  <a:srgbClr val="005FC2"/>
                </a:solidFill>
                <a:latin typeface="Koho"/>
                <a:ea typeface="Koho"/>
                <a:cs typeface="Koho"/>
                <a:sym typeface="Koho"/>
              </a:rPr>
              <a:t>The core purpose of </a:t>
            </a:r>
            <a:r>
              <a:rPr lang="en-US" sz="4000" dirty="0" err="1">
                <a:solidFill>
                  <a:srgbClr val="005FC2"/>
                </a:solidFill>
                <a:latin typeface="Koho"/>
                <a:ea typeface="Koho"/>
                <a:cs typeface="Koho"/>
                <a:sym typeface="Koho"/>
              </a:rPr>
              <a:t>CodePulse</a:t>
            </a:r>
            <a:r>
              <a:rPr lang="en-US" sz="4000" dirty="0">
                <a:solidFill>
                  <a:srgbClr val="005FC2"/>
                </a:solidFill>
                <a:latin typeface="Koho"/>
                <a:ea typeface="Koho"/>
                <a:cs typeface="Koho"/>
                <a:sym typeface="Koho"/>
              </a:rPr>
              <a:t> is to transform scattered statistics into intelligent, actionable insights that enable efficient and structured skill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41973" y="3962796"/>
            <a:ext cx="8975409" cy="2057936"/>
          </a:xfrm>
          <a:prstGeom prst="rect">
            <a:avLst/>
          </a:prstGeom>
        </p:spPr>
        <p:txBody>
          <a:bodyPr lIns="0" tIns="0" rIns="0" bIns="0" rtlCol="0" anchor="t">
            <a:spAutoFit/>
          </a:bodyPr>
          <a:lstStyle/>
          <a:p>
            <a:pPr algn="just">
              <a:lnSpc>
                <a:spcPts val="3191"/>
              </a:lnSpc>
            </a:pPr>
            <a:r>
              <a:rPr lang="en-US" sz="3600" dirty="0">
                <a:solidFill>
                  <a:srgbClr val="005FC2"/>
                </a:solidFill>
                <a:latin typeface="Koho"/>
                <a:ea typeface="Koho"/>
                <a:cs typeface="Koho"/>
                <a:sym typeface="Koho"/>
              </a:rPr>
              <a:t>Current coding platforms like </a:t>
            </a:r>
            <a:r>
              <a:rPr lang="en-US" sz="3600" dirty="0" err="1">
                <a:solidFill>
                  <a:srgbClr val="005FC2"/>
                </a:solidFill>
                <a:latin typeface="Koho"/>
                <a:ea typeface="Koho"/>
                <a:cs typeface="Koho"/>
                <a:sym typeface="Koho"/>
              </a:rPr>
              <a:t>Codeforces</a:t>
            </a:r>
            <a:r>
              <a:rPr lang="en-US" sz="3600" dirty="0">
                <a:solidFill>
                  <a:srgbClr val="005FC2"/>
                </a:solidFill>
                <a:latin typeface="Koho"/>
                <a:ea typeface="Koho"/>
                <a:cs typeface="Koho"/>
                <a:sym typeface="Koho"/>
              </a:rPr>
              <a:t> lack structured feedback mechanisms.. Users receive no automated weakness detection or personalized guidance to improve their skills systematically.</a:t>
            </a:r>
          </a:p>
        </p:txBody>
      </p:sp>
      <p:sp>
        <p:nvSpPr>
          <p:cNvPr id="5" name="Freeform 5"/>
          <p:cNvSpPr/>
          <p:nvPr/>
        </p:nvSpPr>
        <p:spPr>
          <a:xfrm>
            <a:off x="1468113" y="3060968"/>
            <a:ext cx="5947374" cy="5887900"/>
          </a:xfrm>
          <a:custGeom>
            <a:avLst/>
            <a:gdLst/>
            <a:ahLst/>
            <a:cxnLst/>
            <a:rect l="l" t="t" r="r" b="b"/>
            <a:pathLst>
              <a:path w="5947374" h="5887900">
                <a:moveTo>
                  <a:pt x="0" y="0"/>
                </a:moveTo>
                <a:lnTo>
                  <a:pt x="5947374" y="0"/>
                </a:lnTo>
                <a:lnTo>
                  <a:pt x="5947374" y="5887900"/>
                </a:lnTo>
                <a:lnTo>
                  <a:pt x="0" y="5887900"/>
                </a:lnTo>
                <a:lnTo>
                  <a:pt x="0" y="0"/>
                </a:lnTo>
                <a:close/>
              </a:path>
            </a:pathLst>
          </a:custGeom>
          <a:blipFill>
            <a:blip r:embed="rId2"/>
            <a:stretch>
              <a:fillRect/>
            </a:stretch>
          </a:blipFill>
        </p:spPr>
      </p:sp>
      <p:sp>
        <p:nvSpPr>
          <p:cNvPr id="6" name="TextBox 6"/>
          <p:cNvSpPr txBox="1"/>
          <p:nvPr/>
        </p:nvSpPr>
        <p:spPr>
          <a:xfrm>
            <a:off x="3622883" y="1246437"/>
            <a:ext cx="10894849" cy="1238250"/>
          </a:xfrm>
          <a:prstGeom prst="rect">
            <a:avLst/>
          </a:prstGeom>
        </p:spPr>
        <p:txBody>
          <a:bodyPr lIns="0" tIns="0" rIns="0" bIns="0" rtlCol="0" anchor="t">
            <a:spAutoFit/>
          </a:bodyPr>
          <a:lstStyle/>
          <a:p>
            <a:pPr marL="0" lvl="0" indent="0" algn="ctr">
              <a:lnSpc>
                <a:spcPts val="8549"/>
              </a:lnSpc>
            </a:pPr>
            <a:r>
              <a:rPr lang="en-US" sz="7500" b="1">
                <a:solidFill>
                  <a:srgbClr val="005FC2"/>
                </a:solidFill>
                <a:latin typeface="Neo Tech Bold"/>
                <a:ea typeface="Neo Tech Bold"/>
                <a:cs typeface="Neo Tech Bold"/>
                <a:sym typeface="Neo Tech Bold"/>
              </a:rPr>
              <a:t>MOTIVATION</a:t>
            </a:r>
          </a:p>
        </p:txBody>
      </p:sp>
      <p:sp>
        <p:nvSpPr>
          <p:cNvPr id="7" name="TextBox 7"/>
          <p:cNvSpPr txBox="1"/>
          <p:nvPr/>
        </p:nvSpPr>
        <p:spPr>
          <a:xfrm>
            <a:off x="7341974" y="6578754"/>
            <a:ext cx="8975409" cy="2468304"/>
          </a:xfrm>
          <a:prstGeom prst="rect">
            <a:avLst/>
          </a:prstGeom>
        </p:spPr>
        <p:txBody>
          <a:bodyPr lIns="0" tIns="0" rIns="0" bIns="0" rtlCol="0" anchor="t">
            <a:spAutoFit/>
          </a:bodyPr>
          <a:lstStyle/>
          <a:p>
            <a:pPr marL="0" lvl="0" indent="0" algn="just">
              <a:lnSpc>
                <a:spcPts val="3191"/>
              </a:lnSpc>
            </a:pPr>
            <a:r>
              <a:rPr lang="en-US" sz="3600" dirty="0">
                <a:solidFill>
                  <a:srgbClr val="005FC2"/>
                </a:solidFill>
                <a:latin typeface="Koho"/>
                <a:ea typeface="Koho"/>
                <a:cs typeface="Koho"/>
                <a:sym typeface="Koho"/>
              </a:rPr>
              <a:t>Learning becomes inefficient and repetitive without data-driven insights. </a:t>
            </a:r>
            <a:r>
              <a:rPr lang="en-US" sz="3600" dirty="0" err="1">
                <a:solidFill>
                  <a:srgbClr val="005FC2"/>
                </a:solidFill>
                <a:latin typeface="Koho"/>
                <a:ea typeface="Koho"/>
                <a:cs typeface="Koho"/>
                <a:sym typeface="Koho"/>
              </a:rPr>
              <a:t>CodePulse</a:t>
            </a:r>
            <a:r>
              <a:rPr lang="en-US" sz="3600" dirty="0">
                <a:solidFill>
                  <a:srgbClr val="005FC2"/>
                </a:solidFill>
                <a:latin typeface="Koho"/>
                <a:ea typeface="Koho"/>
                <a:cs typeface="Koho"/>
                <a:sym typeface="Koho"/>
              </a:rPr>
              <a:t> addresses this gap by introducing personalized analytics and intelligent recommendations for targeted skill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96575" y="1488837"/>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PROBLEM STATEMENT</a:t>
            </a:r>
          </a:p>
        </p:txBody>
      </p:sp>
      <p:sp>
        <p:nvSpPr>
          <p:cNvPr id="3" name="TextBox 3"/>
          <p:cNvSpPr txBox="1"/>
          <p:nvPr/>
        </p:nvSpPr>
        <p:spPr>
          <a:xfrm>
            <a:off x="3696575" y="3736036"/>
            <a:ext cx="10648694" cy="2468304"/>
          </a:xfrm>
          <a:prstGeom prst="rect">
            <a:avLst/>
          </a:prstGeom>
        </p:spPr>
        <p:txBody>
          <a:bodyPr wrap="square" lIns="0" tIns="0" rIns="0" bIns="0" rtlCol="0" anchor="t">
            <a:spAutoFit/>
          </a:bodyPr>
          <a:lstStyle/>
          <a:p>
            <a:pPr marL="0" lvl="0" indent="0" algn="just">
              <a:lnSpc>
                <a:spcPts val="3189"/>
              </a:lnSpc>
            </a:pPr>
            <a:r>
              <a:rPr lang="en-US" sz="3600" dirty="0">
                <a:solidFill>
                  <a:srgbClr val="005FC2"/>
                </a:solidFill>
                <a:latin typeface="Koho"/>
                <a:ea typeface="Koho"/>
                <a:cs typeface="Koho"/>
                <a:sym typeface="Koho"/>
              </a:rPr>
              <a:t>No centralized system exists for deep coding performance analysis. Current platforms like </a:t>
            </a:r>
            <a:r>
              <a:rPr lang="en-US" sz="3600" dirty="0" err="1">
                <a:solidFill>
                  <a:srgbClr val="005FC2"/>
                </a:solidFill>
                <a:latin typeface="Koho"/>
                <a:ea typeface="Koho"/>
                <a:cs typeface="Koho"/>
                <a:sym typeface="Koho"/>
              </a:rPr>
              <a:t>Codeforces</a:t>
            </a:r>
            <a:r>
              <a:rPr lang="en-US" sz="3600" dirty="0">
                <a:solidFill>
                  <a:srgbClr val="005FC2"/>
                </a:solidFill>
                <a:latin typeface="Koho"/>
                <a:ea typeface="Koho"/>
                <a:cs typeface="Koho"/>
                <a:sym typeface="Koho"/>
              </a:rPr>
              <a:t> only display surface-level statistics without providing meaningful insights into a programmer's actual skill development or learning gaps.</a:t>
            </a:r>
          </a:p>
        </p:txBody>
      </p:sp>
      <p:sp>
        <p:nvSpPr>
          <p:cNvPr id="7" name="TextBox 7"/>
          <p:cNvSpPr txBox="1"/>
          <p:nvPr/>
        </p:nvSpPr>
        <p:spPr>
          <a:xfrm>
            <a:off x="3696576" y="6758740"/>
            <a:ext cx="10648694" cy="2468304"/>
          </a:xfrm>
          <a:prstGeom prst="rect">
            <a:avLst/>
          </a:prstGeom>
        </p:spPr>
        <p:txBody>
          <a:bodyPr wrap="square" lIns="0" tIns="0" rIns="0" bIns="0" rtlCol="0" anchor="t">
            <a:spAutoFit/>
          </a:bodyPr>
          <a:lstStyle/>
          <a:p>
            <a:pPr marL="0" lvl="0" indent="0" algn="just">
              <a:lnSpc>
                <a:spcPts val="3189"/>
              </a:lnSpc>
            </a:pPr>
            <a:r>
              <a:rPr lang="en-US" sz="3600" dirty="0">
                <a:solidFill>
                  <a:srgbClr val="005FC2"/>
                </a:solidFill>
                <a:latin typeface="Koho"/>
                <a:ea typeface="Koho"/>
                <a:cs typeface="Koho"/>
                <a:sym typeface="Koho"/>
              </a:rPr>
              <a:t>Missing automated weakness detection and personalized recommendations. Programmers cannot identify their weak topics or receive tailored problem suggestions. There is no correlation analysis between problem difficulty levels and individual performance trends over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75047" y="2735176"/>
            <a:ext cx="15155552" cy="5125486"/>
            <a:chOff x="0" y="-38100"/>
            <a:chExt cx="971835" cy="457200"/>
          </a:xfrm>
        </p:grpSpPr>
        <p:sp>
          <p:nvSpPr>
            <p:cNvPr id="3" name="Freeform 3"/>
            <p:cNvSpPr/>
            <p:nvPr/>
          </p:nvSpPr>
          <p:spPr>
            <a:xfrm>
              <a:off x="0" y="0"/>
              <a:ext cx="971835" cy="419100"/>
            </a:xfrm>
            <a:custGeom>
              <a:avLst/>
              <a:gdLst/>
              <a:ahLst/>
              <a:cxnLst/>
              <a:rect l="l" t="t" r="r" b="b"/>
              <a:pathLst>
                <a:path w="971835" h="419100">
                  <a:moveTo>
                    <a:pt x="0" y="0"/>
                  </a:moveTo>
                  <a:lnTo>
                    <a:pt x="971835" y="0"/>
                  </a:lnTo>
                  <a:lnTo>
                    <a:pt x="971835" y="419100"/>
                  </a:lnTo>
                  <a:lnTo>
                    <a:pt x="0" y="419100"/>
                  </a:lnTo>
                  <a:close/>
                </a:path>
              </a:pathLst>
            </a:custGeom>
            <a:solidFill>
              <a:srgbClr val="005FC2"/>
            </a:solidFill>
          </p:spPr>
        </p:sp>
        <p:sp>
          <p:nvSpPr>
            <p:cNvPr id="4" name="TextBox 4"/>
            <p:cNvSpPr txBox="1"/>
            <p:nvPr/>
          </p:nvSpPr>
          <p:spPr>
            <a:xfrm>
              <a:off x="0" y="-38100"/>
              <a:ext cx="971835" cy="4572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1456048" y="3575598"/>
            <a:ext cx="14374669" cy="3487045"/>
          </a:xfrm>
          <a:prstGeom prst="rect">
            <a:avLst/>
          </a:prstGeom>
        </p:spPr>
        <p:txBody>
          <a:bodyPr wrap="square" lIns="0" tIns="0" rIns="0" bIns="0" rtlCol="0" anchor="t">
            <a:spAutoFit/>
          </a:bodyPr>
          <a:lstStyle/>
          <a:p>
            <a:pPr marL="0" lvl="0" indent="0" algn="just">
              <a:lnSpc>
                <a:spcPts val="3005"/>
              </a:lnSpc>
            </a:pPr>
            <a:r>
              <a:rPr lang="en-US" sz="4000" dirty="0" err="1">
                <a:solidFill>
                  <a:srgbClr val="FFFFFF"/>
                </a:solidFill>
                <a:latin typeface="Koho"/>
                <a:ea typeface="Koho"/>
                <a:cs typeface="Koho"/>
                <a:sym typeface="Koho"/>
              </a:rPr>
              <a:t>CodePulse</a:t>
            </a:r>
            <a:r>
              <a:rPr lang="en-US" sz="4000" dirty="0">
                <a:solidFill>
                  <a:srgbClr val="FFFFFF"/>
                </a:solidFill>
                <a:latin typeface="Koho"/>
                <a:ea typeface="Koho"/>
                <a:cs typeface="Koho"/>
                <a:sym typeface="Koho"/>
              </a:rPr>
              <a:t> is a full-stack web application built with Next.js for the frontend and Spring Boot for the backend. The system analyzes coding performance data from platforms like </a:t>
            </a:r>
            <a:r>
              <a:rPr lang="en-US" sz="4000" dirty="0" err="1">
                <a:solidFill>
                  <a:srgbClr val="FFFFFF"/>
                </a:solidFill>
                <a:latin typeface="Koho"/>
                <a:ea typeface="Koho"/>
                <a:cs typeface="Koho"/>
                <a:sym typeface="Koho"/>
              </a:rPr>
              <a:t>Codeforces</a:t>
            </a:r>
            <a:r>
              <a:rPr lang="en-US" sz="4000" dirty="0">
                <a:solidFill>
                  <a:srgbClr val="FFFFFF"/>
                </a:solidFill>
                <a:latin typeface="Koho"/>
                <a:ea typeface="Koho"/>
                <a:cs typeface="Koho"/>
                <a:sym typeface="Koho"/>
              </a:rPr>
              <a:t>, automatically classifies problems by topic, and generates personalized insights and recommendations. Key features include interactive dashboards for visualizing progress, advanced analytics for identifying strengths and weaknesses, and secure user management. This unified approach transforms scattered statistics into actionable guidance for efficient skill development.</a:t>
            </a:r>
          </a:p>
        </p:txBody>
      </p:sp>
      <p:sp>
        <p:nvSpPr>
          <p:cNvPr id="7" name="TextBox 7"/>
          <p:cNvSpPr txBox="1"/>
          <p:nvPr/>
        </p:nvSpPr>
        <p:spPr>
          <a:xfrm>
            <a:off x="1456048" y="843257"/>
            <a:ext cx="10894849" cy="1238210"/>
          </a:xfrm>
          <a:prstGeom prst="rect">
            <a:avLst/>
          </a:prstGeom>
        </p:spPr>
        <p:txBody>
          <a:bodyPr lIns="0" tIns="0" rIns="0" bIns="0" rtlCol="0" anchor="t">
            <a:spAutoFit/>
          </a:bodyPr>
          <a:lstStyle/>
          <a:p>
            <a:pPr marL="0" lvl="0" indent="0" algn="l">
              <a:lnSpc>
                <a:spcPts val="8543"/>
              </a:lnSpc>
            </a:pPr>
            <a:r>
              <a:rPr lang="en-US" sz="7494" b="1" dirty="0">
                <a:solidFill>
                  <a:srgbClr val="005FC2"/>
                </a:solidFill>
                <a:latin typeface="Neo Tech Bold"/>
                <a:ea typeface="Neo Tech Bold"/>
                <a:cs typeface="Neo Tech Bold"/>
                <a:sym typeface="Neo Tech Bold"/>
              </a:rPr>
              <a:t>PROPOSED SOLUTION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3809" y="1685119"/>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SYSTEM MODULES</a:t>
            </a:r>
          </a:p>
        </p:txBody>
      </p:sp>
      <p:sp>
        <p:nvSpPr>
          <p:cNvPr id="3" name="TextBox 3"/>
          <p:cNvSpPr txBox="1"/>
          <p:nvPr/>
        </p:nvSpPr>
        <p:spPr>
          <a:xfrm>
            <a:off x="7642726" y="5265039"/>
            <a:ext cx="4230126" cy="3693319"/>
          </a:xfrm>
          <a:prstGeom prst="rect">
            <a:avLst/>
          </a:prstGeom>
        </p:spPr>
        <p:txBody>
          <a:bodyPr lIns="0" tIns="0" rIns="0" bIns="0" rtlCol="0" anchor="t">
            <a:spAutoFit/>
          </a:bodyPr>
          <a:lstStyle/>
          <a:p>
            <a:pPr marL="0" lvl="0" indent="0" algn="just">
              <a:lnSpc>
                <a:spcPts val="3191"/>
              </a:lnSpc>
            </a:pPr>
            <a:r>
              <a:rPr lang="en-US" sz="2799" dirty="0">
                <a:solidFill>
                  <a:srgbClr val="005FC2"/>
                </a:solidFill>
                <a:latin typeface="Koho"/>
                <a:ea typeface="Koho"/>
                <a:cs typeface="Koho"/>
                <a:sym typeface="Koho"/>
              </a:rPr>
              <a:t>Performance Analysis :</a:t>
            </a:r>
          </a:p>
          <a:p>
            <a:pPr marL="0" lvl="0" indent="0" algn="just">
              <a:lnSpc>
                <a:spcPts val="3191"/>
              </a:lnSpc>
            </a:pPr>
            <a:r>
              <a:rPr lang="en-US" sz="2799" dirty="0">
                <a:solidFill>
                  <a:srgbClr val="005FC2"/>
                </a:solidFill>
                <a:latin typeface="Koho"/>
                <a:ea typeface="Koho"/>
                <a:cs typeface="Koho"/>
                <a:sym typeface="Koho"/>
              </a:rPr>
              <a:t>Analyzes coding submissions to calculate success rates, time complexity patterns, and difficulty-based metrics. Generates actionable insights from raw performance data.</a:t>
            </a:r>
          </a:p>
        </p:txBody>
      </p:sp>
      <p:sp>
        <p:nvSpPr>
          <p:cNvPr id="6" name="TextBox 6"/>
          <p:cNvSpPr txBox="1"/>
          <p:nvPr/>
        </p:nvSpPr>
        <p:spPr>
          <a:xfrm>
            <a:off x="12229407" y="3866959"/>
            <a:ext cx="4656668" cy="2872581"/>
          </a:xfrm>
          <a:prstGeom prst="rect">
            <a:avLst/>
          </a:prstGeom>
        </p:spPr>
        <p:txBody>
          <a:bodyPr lIns="0" tIns="0" rIns="0" bIns="0" rtlCol="0" anchor="t">
            <a:spAutoFit/>
          </a:bodyPr>
          <a:lstStyle/>
          <a:p>
            <a:pPr marL="0" lvl="0" indent="0" algn="just">
              <a:lnSpc>
                <a:spcPts val="3191"/>
              </a:lnSpc>
            </a:pPr>
            <a:r>
              <a:rPr lang="en-US" sz="2799" dirty="0">
                <a:solidFill>
                  <a:srgbClr val="005FC2"/>
                </a:solidFill>
                <a:latin typeface="Koho"/>
                <a:ea typeface="Koho"/>
                <a:cs typeface="Koho"/>
                <a:sym typeface="Koho"/>
              </a:rPr>
              <a:t>Topic Classification : </a:t>
            </a:r>
          </a:p>
          <a:p>
            <a:pPr marL="0" lvl="0" indent="0" algn="just">
              <a:lnSpc>
                <a:spcPts val="3191"/>
              </a:lnSpc>
            </a:pPr>
            <a:r>
              <a:rPr lang="en-US" sz="2799" dirty="0">
                <a:solidFill>
                  <a:srgbClr val="005FC2"/>
                </a:solidFill>
                <a:latin typeface="Koho"/>
                <a:ea typeface="Koho"/>
                <a:cs typeface="Koho"/>
                <a:sym typeface="Koho"/>
              </a:rPr>
              <a:t>Automatically categorizes problems by topic areas (arrays, graphs, DP, etc.). Maps user performance to specific skill domains for targeted improvement.</a:t>
            </a:r>
          </a:p>
        </p:txBody>
      </p:sp>
      <p:sp>
        <p:nvSpPr>
          <p:cNvPr id="7" name="TextBox 7"/>
          <p:cNvSpPr txBox="1"/>
          <p:nvPr/>
        </p:nvSpPr>
        <p:spPr>
          <a:xfrm>
            <a:off x="2629502" y="3866959"/>
            <a:ext cx="4656668" cy="2872581"/>
          </a:xfrm>
          <a:prstGeom prst="rect">
            <a:avLst/>
          </a:prstGeom>
        </p:spPr>
        <p:txBody>
          <a:bodyPr lIns="0" tIns="0" rIns="0" bIns="0" rtlCol="0" anchor="t">
            <a:spAutoFit/>
          </a:bodyPr>
          <a:lstStyle/>
          <a:p>
            <a:pPr marL="0" lvl="0" indent="0" algn="just">
              <a:lnSpc>
                <a:spcPts val="3191"/>
              </a:lnSpc>
            </a:pPr>
            <a:r>
              <a:rPr lang="en-US" sz="2799" dirty="0">
                <a:solidFill>
                  <a:srgbClr val="005FC2"/>
                </a:solidFill>
                <a:latin typeface="Koho"/>
                <a:ea typeface="Koho"/>
                <a:cs typeface="Koho"/>
                <a:sym typeface="Koho"/>
              </a:rPr>
              <a:t>Authentication &amp; Data Collection :</a:t>
            </a:r>
          </a:p>
          <a:p>
            <a:pPr marL="0" lvl="0" indent="0" algn="just">
              <a:lnSpc>
                <a:spcPts val="3191"/>
              </a:lnSpc>
            </a:pPr>
            <a:r>
              <a:rPr lang="en-US" sz="2799" dirty="0">
                <a:solidFill>
                  <a:srgbClr val="005FC2"/>
                </a:solidFill>
                <a:latin typeface="Koho"/>
                <a:ea typeface="Koho"/>
                <a:cs typeface="Koho"/>
                <a:sym typeface="Koho"/>
              </a:rPr>
              <a:t>Secure JWT-based user authentication and profile management. API integration with </a:t>
            </a:r>
            <a:r>
              <a:rPr lang="en-US" sz="2799" dirty="0" err="1">
                <a:solidFill>
                  <a:srgbClr val="005FC2"/>
                </a:solidFill>
                <a:latin typeface="Koho"/>
                <a:ea typeface="Koho"/>
                <a:cs typeface="Koho"/>
                <a:sym typeface="Koho"/>
              </a:rPr>
              <a:t>Codeforces</a:t>
            </a:r>
            <a:r>
              <a:rPr lang="en-US" sz="2799" dirty="0">
                <a:solidFill>
                  <a:srgbClr val="005FC2"/>
                </a:solidFill>
                <a:latin typeface="Koho"/>
                <a:ea typeface="Koho"/>
                <a:cs typeface="Koho"/>
                <a:sym typeface="Koho"/>
              </a:rPr>
              <a:t> to fetch and store coding submissions.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3809" y="1704169"/>
            <a:ext cx="10894849" cy="1058384"/>
          </a:xfrm>
          <a:prstGeom prst="rect">
            <a:avLst/>
          </a:prstGeom>
        </p:spPr>
        <p:txBody>
          <a:bodyPr lIns="0" tIns="0" rIns="0" bIns="0" rtlCol="0" anchor="t">
            <a:spAutoFit/>
          </a:bodyPr>
          <a:lstStyle/>
          <a:p>
            <a:pPr marL="0" lvl="0" indent="0" algn="ctr">
              <a:lnSpc>
                <a:spcPts val="7290"/>
              </a:lnSpc>
            </a:pPr>
            <a:r>
              <a:rPr lang="en-US" sz="6395" b="1">
                <a:solidFill>
                  <a:srgbClr val="005FC2"/>
                </a:solidFill>
                <a:latin typeface="Neo Tech Bold"/>
                <a:ea typeface="Neo Tech Bold"/>
                <a:cs typeface="Neo Tech Bold"/>
                <a:sym typeface="Neo Tech Bold"/>
              </a:rPr>
              <a:t>SYSTEM MODULES (PART 2)</a:t>
            </a:r>
          </a:p>
        </p:txBody>
      </p:sp>
      <p:sp>
        <p:nvSpPr>
          <p:cNvPr id="3" name="TextBox 3"/>
          <p:cNvSpPr txBox="1"/>
          <p:nvPr/>
        </p:nvSpPr>
        <p:spPr>
          <a:xfrm>
            <a:off x="11658600" y="3821771"/>
            <a:ext cx="4230126" cy="3282950"/>
          </a:xfrm>
          <a:prstGeom prst="rect">
            <a:avLst/>
          </a:prstGeom>
        </p:spPr>
        <p:txBody>
          <a:bodyPr lIns="0" tIns="0" rIns="0" bIns="0" rtlCol="0" anchor="t">
            <a:spAutoFit/>
          </a:bodyPr>
          <a:lstStyle/>
          <a:p>
            <a:pPr marL="0" lvl="0" indent="0" algn="just">
              <a:lnSpc>
                <a:spcPts val="3191"/>
              </a:lnSpc>
            </a:pPr>
            <a:r>
              <a:rPr lang="en-US" sz="2799" dirty="0">
                <a:solidFill>
                  <a:srgbClr val="005FC2"/>
                </a:solidFill>
                <a:latin typeface="Koho"/>
                <a:ea typeface="Koho"/>
                <a:cs typeface="Koho"/>
                <a:sym typeface="Koho"/>
              </a:rPr>
              <a:t>Progress Tracking :</a:t>
            </a:r>
          </a:p>
          <a:p>
            <a:pPr marL="0" lvl="0" indent="0" algn="just">
              <a:lnSpc>
                <a:spcPts val="3191"/>
              </a:lnSpc>
            </a:pPr>
            <a:r>
              <a:rPr lang="en-US" sz="2799" dirty="0">
                <a:solidFill>
                  <a:srgbClr val="005FC2"/>
                </a:solidFill>
                <a:latin typeface="Koho"/>
                <a:ea typeface="Koho"/>
                <a:cs typeface="Koho"/>
                <a:sym typeface="Koho"/>
              </a:rPr>
              <a:t>Monitor improvement over time with historical data analysis. Track solved problems, rating changes, and skill development milestones to measure your coding journey.</a:t>
            </a:r>
          </a:p>
        </p:txBody>
      </p:sp>
      <p:sp>
        <p:nvSpPr>
          <p:cNvPr id="7" name="TextBox 7"/>
          <p:cNvSpPr txBox="1"/>
          <p:nvPr/>
        </p:nvSpPr>
        <p:spPr>
          <a:xfrm>
            <a:off x="4301067" y="3882274"/>
            <a:ext cx="4656668" cy="3282950"/>
          </a:xfrm>
          <a:prstGeom prst="rect">
            <a:avLst/>
          </a:prstGeom>
        </p:spPr>
        <p:txBody>
          <a:bodyPr lIns="0" tIns="0" rIns="0" bIns="0" rtlCol="0" anchor="t">
            <a:spAutoFit/>
          </a:bodyPr>
          <a:lstStyle/>
          <a:p>
            <a:pPr marL="0" lvl="0" indent="0" algn="just">
              <a:lnSpc>
                <a:spcPts val="3191"/>
              </a:lnSpc>
            </a:pPr>
            <a:r>
              <a:rPr lang="en-US" sz="2799" dirty="0">
                <a:solidFill>
                  <a:srgbClr val="005FC2"/>
                </a:solidFill>
                <a:latin typeface="Koho"/>
                <a:ea typeface="Koho"/>
                <a:cs typeface="Koho"/>
                <a:sym typeface="Koho"/>
              </a:rPr>
              <a:t>Recommendation Engine :</a:t>
            </a:r>
          </a:p>
          <a:p>
            <a:pPr marL="0" lvl="0" indent="0" algn="just">
              <a:lnSpc>
                <a:spcPts val="3191"/>
              </a:lnSpc>
            </a:pPr>
            <a:r>
              <a:rPr lang="en-US" sz="2799" dirty="0">
                <a:solidFill>
                  <a:srgbClr val="005FC2"/>
                </a:solidFill>
                <a:latin typeface="Koho"/>
                <a:ea typeface="Koho"/>
                <a:cs typeface="Koho"/>
                <a:sym typeface="Koho"/>
              </a:rPr>
              <a:t>Intelligent problem suggestions based on detected weaknesses. Analyzes your performance patterns to recommend targeted practice problems for maximum improvement.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5FC2"/>
        </a:solidFill>
        <a:effectLst/>
      </p:bgPr>
    </p:bg>
    <p:spTree>
      <p:nvGrpSpPr>
        <p:cNvPr id="1" name=""/>
        <p:cNvGrpSpPr/>
        <p:nvPr/>
      </p:nvGrpSpPr>
      <p:grpSpPr>
        <a:xfrm>
          <a:off x="0" y="0"/>
          <a:ext cx="0" cy="0"/>
          <a:chOff x="0" y="0"/>
          <a:chExt cx="0" cy="0"/>
        </a:xfrm>
      </p:grpSpPr>
      <p:sp>
        <p:nvSpPr>
          <p:cNvPr id="4" name="Freeform 4"/>
          <p:cNvSpPr/>
          <p:nvPr/>
        </p:nvSpPr>
        <p:spPr>
          <a:xfrm>
            <a:off x="3486955" y="4337680"/>
            <a:ext cx="980748" cy="1030166"/>
          </a:xfrm>
          <a:custGeom>
            <a:avLst/>
            <a:gdLst/>
            <a:ahLst/>
            <a:cxnLst/>
            <a:rect l="l" t="t" r="r" b="b"/>
            <a:pathLst>
              <a:path w="980748" h="1030166">
                <a:moveTo>
                  <a:pt x="0" y="0"/>
                </a:moveTo>
                <a:lnTo>
                  <a:pt x="980749" y="0"/>
                </a:lnTo>
                <a:lnTo>
                  <a:pt x="980749" y="1030166"/>
                </a:lnTo>
                <a:lnTo>
                  <a:pt x="0" y="1030166"/>
                </a:lnTo>
                <a:lnTo>
                  <a:pt x="0" y="0"/>
                </a:lnTo>
                <a:close/>
              </a:path>
            </a:pathLst>
          </a:custGeom>
          <a:blipFill>
            <a:blip r:embed="rId2"/>
            <a:stretch>
              <a:fillRect/>
            </a:stretch>
          </a:blipFill>
        </p:spPr>
      </p:sp>
      <p:sp>
        <p:nvSpPr>
          <p:cNvPr id="5" name="TextBox 5"/>
          <p:cNvSpPr txBox="1"/>
          <p:nvPr/>
        </p:nvSpPr>
        <p:spPr>
          <a:xfrm>
            <a:off x="4336389" y="1587629"/>
            <a:ext cx="9615222" cy="1238250"/>
          </a:xfrm>
          <a:prstGeom prst="rect">
            <a:avLst/>
          </a:prstGeom>
        </p:spPr>
        <p:txBody>
          <a:bodyPr lIns="0" tIns="0" rIns="0" bIns="0" rtlCol="0" anchor="t">
            <a:spAutoFit/>
          </a:bodyPr>
          <a:lstStyle/>
          <a:p>
            <a:pPr marL="0" lvl="0" indent="0" algn="ctr">
              <a:lnSpc>
                <a:spcPts val="8549"/>
              </a:lnSpc>
            </a:pPr>
            <a:r>
              <a:rPr lang="en-US" sz="7500" b="1">
                <a:solidFill>
                  <a:srgbClr val="FFFFFF"/>
                </a:solidFill>
                <a:latin typeface="Neo Tech Bold"/>
                <a:ea typeface="Neo Tech Bold"/>
                <a:cs typeface="Neo Tech Bold"/>
                <a:sym typeface="Neo Tech Bold"/>
              </a:rPr>
              <a:t>SYSTEM WORKFLOW</a:t>
            </a:r>
          </a:p>
        </p:txBody>
      </p:sp>
      <p:sp>
        <p:nvSpPr>
          <p:cNvPr id="6" name="TextBox 6"/>
          <p:cNvSpPr txBox="1"/>
          <p:nvPr/>
        </p:nvSpPr>
        <p:spPr>
          <a:xfrm>
            <a:off x="4813846" y="4315722"/>
            <a:ext cx="10580784" cy="1231106"/>
          </a:xfrm>
          <a:prstGeom prst="rect">
            <a:avLst/>
          </a:prstGeom>
        </p:spPr>
        <p:txBody>
          <a:bodyPr lIns="0" tIns="0" rIns="0" bIns="0" rtlCol="0" anchor="t">
            <a:spAutoFit/>
          </a:bodyPr>
          <a:lstStyle/>
          <a:p>
            <a:pPr marL="0" lvl="0" indent="0" algn="just">
              <a:lnSpc>
                <a:spcPts val="3191"/>
              </a:lnSpc>
            </a:pPr>
            <a:r>
              <a:rPr lang="en-US" sz="2799" dirty="0">
                <a:solidFill>
                  <a:srgbClr val="FFFFFF"/>
                </a:solidFill>
                <a:latin typeface="Koho"/>
                <a:ea typeface="Koho"/>
                <a:cs typeface="Koho"/>
                <a:sym typeface="Koho"/>
              </a:rPr>
              <a:t>Data Flow: User → Fetch Data → Store → Analyze → Output. This pipeline ensures seamless data collection from coding platforms and transforms raw submissions into meaningful performance metrics.</a:t>
            </a:r>
          </a:p>
        </p:txBody>
      </p:sp>
      <p:sp>
        <p:nvSpPr>
          <p:cNvPr id="7" name="TextBox 7"/>
          <p:cNvSpPr txBox="1"/>
          <p:nvPr/>
        </p:nvSpPr>
        <p:spPr>
          <a:xfrm>
            <a:off x="4813846" y="5856350"/>
            <a:ext cx="10580784" cy="1231106"/>
          </a:xfrm>
          <a:prstGeom prst="rect">
            <a:avLst/>
          </a:prstGeom>
        </p:spPr>
        <p:txBody>
          <a:bodyPr lIns="0" tIns="0" rIns="0" bIns="0" rtlCol="0" anchor="t">
            <a:spAutoFit/>
          </a:bodyPr>
          <a:lstStyle/>
          <a:p>
            <a:pPr marL="0" lvl="0" indent="0" algn="just">
              <a:lnSpc>
                <a:spcPts val="3191"/>
              </a:lnSpc>
            </a:pPr>
            <a:r>
              <a:rPr lang="en-US" sz="2799" dirty="0">
                <a:solidFill>
                  <a:srgbClr val="FFFFFF"/>
                </a:solidFill>
                <a:latin typeface="Koho"/>
                <a:ea typeface="Koho"/>
                <a:cs typeface="Koho"/>
                <a:sym typeface="Koho"/>
              </a:rPr>
              <a:t>Analysis Flow: Raw Data → Classify → Map Difficulty → Calculate Metrics → Generate Insights. Each submission is categorized by topic and difficulty level to produce actionable analytics.</a:t>
            </a:r>
          </a:p>
        </p:txBody>
      </p:sp>
      <p:sp>
        <p:nvSpPr>
          <p:cNvPr id="8" name="TextBox 8"/>
          <p:cNvSpPr txBox="1"/>
          <p:nvPr/>
        </p:nvSpPr>
        <p:spPr>
          <a:xfrm>
            <a:off x="4813846" y="7401685"/>
            <a:ext cx="10580784" cy="1641475"/>
          </a:xfrm>
          <a:prstGeom prst="rect">
            <a:avLst/>
          </a:prstGeom>
        </p:spPr>
        <p:txBody>
          <a:bodyPr lIns="0" tIns="0" rIns="0" bIns="0" rtlCol="0" anchor="t">
            <a:spAutoFit/>
          </a:bodyPr>
          <a:lstStyle/>
          <a:p>
            <a:pPr marL="0" lvl="0" indent="0" algn="just">
              <a:lnSpc>
                <a:spcPts val="3191"/>
              </a:lnSpc>
            </a:pPr>
            <a:r>
              <a:rPr lang="en-US" sz="2799" dirty="0">
                <a:solidFill>
                  <a:srgbClr val="FFFFFF"/>
                </a:solidFill>
                <a:latin typeface="Koho"/>
                <a:ea typeface="Koho"/>
                <a:cs typeface="Koho"/>
                <a:sym typeface="Koho"/>
              </a:rPr>
              <a:t>Recommendation Flow: Detect Weakness → Suggest Problems → User Solves → Feedback Loop Updates Model. The system continuously learns from user progress to refine future recommendations.</a:t>
            </a:r>
          </a:p>
        </p:txBody>
      </p:sp>
      <p:sp>
        <p:nvSpPr>
          <p:cNvPr id="9" name="Freeform 9"/>
          <p:cNvSpPr/>
          <p:nvPr/>
        </p:nvSpPr>
        <p:spPr>
          <a:xfrm>
            <a:off x="3579827" y="5893693"/>
            <a:ext cx="845428" cy="833787"/>
          </a:xfrm>
          <a:custGeom>
            <a:avLst/>
            <a:gdLst/>
            <a:ahLst/>
            <a:cxnLst/>
            <a:rect l="l" t="t" r="r" b="b"/>
            <a:pathLst>
              <a:path w="845428" h="833787">
                <a:moveTo>
                  <a:pt x="0" y="0"/>
                </a:moveTo>
                <a:lnTo>
                  <a:pt x="845428" y="0"/>
                </a:lnTo>
                <a:lnTo>
                  <a:pt x="845428" y="833787"/>
                </a:lnTo>
                <a:lnTo>
                  <a:pt x="0" y="833787"/>
                </a:lnTo>
                <a:lnTo>
                  <a:pt x="0" y="0"/>
                </a:lnTo>
                <a:close/>
              </a:path>
            </a:pathLst>
          </a:custGeom>
          <a:blipFill>
            <a:blip r:embed="rId3"/>
            <a:stretch>
              <a:fillRect/>
            </a:stretch>
          </a:blipFill>
        </p:spPr>
      </p:sp>
      <p:sp>
        <p:nvSpPr>
          <p:cNvPr id="10" name="Freeform 10"/>
          <p:cNvSpPr/>
          <p:nvPr/>
        </p:nvSpPr>
        <p:spPr>
          <a:xfrm>
            <a:off x="3771691" y="7627362"/>
            <a:ext cx="578042" cy="926382"/>
          </a:xfrm>
          <a:custGeom>
            <a:avLst/>
            <a:gdLst/>
            <a:ahLst/>
            <a:cxnLst/>
            <a:rect l="l" t="t" r="r" b="b"/>
            <a:pathLst>
              <a:path w="578042" h="926382">
                <a:moveTo>
                  <a:pt x="0" y="0"/>
                </a:moveTo>
                <a:lnTo>
                  <a:pt x="578042" y="0"/>
                </a:lnTo>
                <a:lnTo>
                  <a:pt x="578042" y="926382"/>
                </a:lnTo>
                <a:lnTo>
                  <a:pt x="0" y="926382"/>
                </a:lnTo>
                <a:lnTo>
                  <a:pt x="0" y="0"/>
                </a:lnTo>
                <a:close/>
              </a:path>
            </a:pathLst>
          </a:custGeom>
          <a:blipFill>
            <a:blip r:embed="rId4"/>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53809" y="1685119"/>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TECHNOLOGY STACK</a:t>
            </a:r>
          </a:p>
        </p:txBody>
      </p:sp>
      <p:sp>
        <p:nvSpPr>
          <p:cNvPr id="3" name="TextBox 3"/>
          <p:cNvSpPr txBox="1"/>
          <p:nvPr/>
        </p:nvSpPr>
        <p:spPr>
          <a:xfrm>
            <a:off x="10972800" y="4774405"/>
            <a:ext cx="5107028" cy="2462213"/>
          </a:xfrm>
          <a:prstGeom prst="rect">
            <a:avLst/>
          </a:prstGeom>
        </p:spPr>
        <p:txBody>
          <a:bodyPr wrap="square" lIns="0" tIns="0" rIns="0" bIns="0" rtlCol="0" anchor="t">
            <a:spAutoFit/>
          </a:bodyPr>
          <a:lstStyle/>
          <a:p>
            <a:pPr marL="0" lvl="0" indent="0" algn="just">
              <a:lnSpc>
                <a:spcPts val="3191"/>
              </a:lnSpc>
            </a:pPr>
            <a:r>
              <a:rPr lang="en-US" sz="2799" dirty="0">
                <a:solidFill>
                  <a:srgbClr val="005FC2"/>
                </a:solidFill>
                <a:latin typeface="Koho"/>
                <a:ea typeface="Koho"/>
                <a:cs typeface="Koho"/>
                <a:sym typeface="Koho"/>
              </a:rPr>
              <a:t>Backend: Spring Boot, Java 17, Spring Security, JPA, REST APIs.</a:t>
            </a:r>
          </a:p>
          <a:p>
            <a:pPr marL="0" lvl="0" indent="0" algn="just">
              <a:lnSpc>
                <a:spcPts val="3191"/>
              </a:lnSpc>
            </a:pPr>
            <a:r>
              <a:rPr lang="en-US" sz="2799" dirty="0">
                <a:solidFill>
                  <a:srgbClr val="005FC2"/>
                </a:solidFill>
                <a:latin typeface="Koho"/>
                <a:ea typeface="Koho"/>
                <a:cs typeface="Koho"/>
                <a:sym typeface="Koho"/>
              </a:rPr>
              <a:t>Database: PostgreSQL. </a:t>
            </a:r>
          </a:p>
          <a:p>
            <a:pPr marL="0" lvl="0" indent="0" algn="just">
              <a:lnSpc>
                <a:spcPts val="3191"/>
              </a:lnSpc>
            </a:pPr>
            <a:r>
              <a:rPr lang="en-US" sz="2799" dirty="0">
                <a:solidFill>
                  <a:srgbClr val="005FC2"/>
                </a:solidFill>
                <a:latin typeface="Koho"/>
                <a:ea typeface="Koho"/>
                <a:cs typeface="Koho"/>
                <a:sym typeface="Koho"/>
              </a:rPr>
              <a:t>Tools: Maven, GitHub, Postman. </a:t>
            </a:r>
          </a:p>
          <a:p>
            <a:pPr marL="0" lvl="0" indent="0" algn="just">
              <a:lnSpc>
                <a:spcPts val="3191"/>
              </a:lnSpc>
            </a:pPr>
            <a:r>
              <a:rPr lang="en-US" sz="2799" dirty="0">
                <a:solidFill>
                  <a:srgbClr val="005FC2"/>
                </a:solidFill>
                <a:latin typeface="Koho"/>
                <a:ea typeface="Koho"/>
                <a:cs typeface="Koho"/>
                <a:sym typeface="Koho"/>
              </a:rPr>
              <a:t>Authentication: JWT, </a:t>
            </a:r>
            <a:r>
              <a:rPr lang="en-US" sz="2799" dirty="0" err="1">
                <a:solidFill>
                  <a:srgbClr val="005FC2"/>
                </a:solidFill>
                <a:latin typeface="Koho"/>
                <a:ea typeface="Koho"/>
                <a:cs typeface="Koho"/>
                <a:sym typeface="Koho"/>
              </a:rPr>
              <a:t>BCrypt</a:t>
            </a:r>
            <a:r>
              <a:rPr lang="en-US" sz="2799" dirty="0">
                <a:solidFill>
                  <a:srgbClr val="005FC2"/>
                </a:solidFill>
                <a:latin typeface="Koho"/>
                <a:ea typeface="Koho"/>
                <a:cs typeface="Koho"/>
                <a:sym typeface="Koho"/>
              </a:rPr>
              <a:t>.</a:t>
            </a:r>
          </a:p>
        </p:txBody>
      </p:sp>
      <p:sp>
        <p:nvSpPr>
          <p:cNvPr id="7" name="TextBox 7"/>
          <p:cNvSpPr txBox="1"/>
          <p:nvPr/>
        </p:nvSpPr>
        <p:spPr>
          <a:xfrm>
            <a:off x="4191000" y="4774406"/>
            <a:ext cx="4656668" cy="2462213"/>
          </a:xfrm>
          <a:prstGeom prst="rect">
            <a:avLst/>
          </a:prstGeom>
        </p:spPr>
        <p:txBody>
          <a:bodyPr lIns="0" tIns="0" rIns="0" bIns="0" rtlCol="0" anchor="t">
            <a:spAutoFit/>
          </a:bodyPr>
          <a:lstStyle/>
          <a:p>
            <a:pPr marL="0" lvl="0" indent="0" algn="just">
              <a:lnSpc>
                <a:spcPts val="3191"/>
              </a:lnSpc>
            </a:pPr>
            <a:r>
              <a:rPr lang="en-US" sz="2799" dirty="0">
                <a:solidFill>
                  <a:srgbClr val="005FC2"/>
                </a:solidFill>
                <a:latin typeface="Koho"/>
                <a:ea typeface="Koho"/>
                <a:cs typeface="Koho"/>
                <a:sym typeface="Koho"/>
              </a:rPr>
              <a:t>Frontend Technologies :</a:t>
            </a:r>
          </a:p>
          <a:p>
            <a:pPr marL="0" lvl="0" indent="0" algn="just">
              <a:lnSpc>
                <a:spcPts val="3191"/>
              </a:lnSpc>
            </a:pPr>
            <a:r>
              <a:rPr lang="en-US" sz="2799" dirty="0">
                <a:solidFill>
                  <a:srgbClr val="005FC2"/>
                </a:solidFill>
                <a:latin typeface="Koho"/>
                <a:ea typeface="Koho"/>
                <a:cs typeface="Koho"/>
                <a:sym typeface="Koho"/>
              </a:rPr>
              <a:t>Next.js and React.js for UI development. Tailwind CSS for styling. Recharts for data visualization and interactive dashboards.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96575" y="1488837"/>
            <a:ext cx="10894849" cy="1238210"/>
          </a:xfrm>
          <a:prstGeom prst="rect">
            <a:avLst/>
          </a:prstGeom>
        </p:spPr>
        <p:txBody>
          <a:bodyPr lIns="0" tIns="0" rIns="0" bIns="0" rtlCol="0" anchor="t">
            <a:spAutoFit/>
          </a:bodyPr>
          <a:lstStyle/>
          <a:p>
            <a:pPr marL="0" lvl="0" indent="0" algn="ctr">
              <a:lnSpc>
                <a:spcPts val="8543"/>
              </a:lnSpc>
            </a:pPr>
            <a:r>
              <a:rPr lang="en-US" sz="7494" b="1">
                <a:solidFill>
                  <a:srgbClr val="005FC2"/>
                </a:solidFill>
                <a:latin typeface="Neo Tech Bold"/>
                <a:ea typeface="Neo Tech Bold"/>
                <a:cs typeface="Neo Tech Bold"/>
                <a:sym typeface="Neo Tech Bold"/>
              </a:rPr>
              <a:t>SYSTEM ARCHITECTURE</a:t>
            </a:r>
          </a:p>
        </p:txBody>
      </p:sp>
      <p:sp>
        <p:nvSpPr>
          <p:cNvPr id="3" name="TextBox 3"/>
          <p:cNvSpPr txBox="1"/>
          <p:nvPr/>
        </p:nvSpPr>
        <p:spPr>
          <a:xfrm>
            <a:off x="5403738" y="3309309"/>
            <a:ext cx="8868773" cy="1993011"/>
          </a:xfrm>
          <a:prstGeom prst="rect">
            <a:avLst/>
          </a:prstGeom>
        </p:spPr>
        <p:txBody>
          <a:bodyPr lIns="0" tIns="0" rIns="0" bIns="0" rtlCol="0" anchor="t">
            <a:spAutoFit/>
          </a:bodyPr>
          <a:lstStyle/>
          <a:p>
            <a:pPr marL="0" lvl="0" indent="0" algn="just">
              <a:lnSpc>
                <a:spcPts val="3191"/>
              </a:lnSpc>
            </a:pPr>
            <a:r>
              <a:rPr lang="en-US" sz="2799">
                <a:solidFill>
                  <a:srgbClr val="005FC2"/>
                </a:solidFill>
                <a:latin typeface="Koho"/>
                <a:ea typeface="Koho"/>
                <a:cs typeface="Koho"/>
                <a:sym typeface="Koho"/>
              </a:rPr>
              <a:t>CodePulse utilizes a robust 3-Tier Architecture model ensuring clean separation of concerns and scalability. The Presentation Layer is built with Next.js, delivering a responsive and dynamic user interface for seamless interaction.</a:t>
            </a:r>
          </a:p>
        </p:txBody>
      </p:sp>
      <p:sp>
        <p:nvSpPr>
          <p:cNvPr id="7" name="TextBox 7"/>
          <p:cNvSpPr txBox="1"/>
          <p:nvPr/>
        </p:nvSpPr>
        <p:spPr>
          <a:xfrm>
            <a:off x="5476496" y="6407220"/>
            <a:ext cx="8868773" cy="1993011"/>
          </a:xfrm>
          <a:prstGeom prst="rect">
            <a:avLst/>
          </a:prstGeom>
        </p:spPr>
        <p:txBody>
          <a:bodyPr lIns="0" tIns="0" rIns="0" bIns="0" rtlCol="0" anchor="t">
            <a:spAutoFit/>
          </a:bodyPr>
          <a:lstStyle/>
          <a:p>
            <a:pPr marL="0" lvl="0" indent="0" algn="just">
              <a:lnSpc>
                <a:spcPts val="3191"/>
              </a:lnSpc>
            </a:pPr>
            <a:r>
              <a:rPr lang="en-US" sz="2799">
                <a:solidFill>
                  <a:srgbClr val="005FC2"/>
                </a:solidFill>
                <a:latin typeface="Koho"/>
                <a:ea typeface="Koho"/>
                <a:cs typeface="Koho"/>
                <a:sym typeface="Koho"/>
              </a:rPr>
              <a:t>The Application Layer leverages Spring Boot APIs to handle business logic, data processing, and analysis engines. The Data Layer uses PostgreSQL for reliable data persistence. JWT authentication ensures secure communication between all layers.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22833" y="3714920"/>
            <a:ext cx="9842334" cy="3795911"/>
          </a:xfrm>
          <a:prstGeom prst="rect">
            <a:avLst/>
          </a:prstGeom>
        </p:spPr>
        <p:txBody>
          <a:bodyPr lIns="0" tIns="0" rIns="0" bIns="0" rtlCol="0" anchor="t">
            <a:spAutoFit/>
          </a:bodyPr>
          <a:lstStyle/>
          <a:p>
            <a:pPr algn="ctr">
              <a:lnSpc>
                <a:spcPts val="7365"/>
              </a:lnSpc>
            </a:pPr>
            <a:r>
              <a:rPr lang="en-US" sz="6460" b="1" dirty="0">
                <a:solidFill>
                  <a:srgbClr val="005FC2"/>
                </a:solidFill>
                <a:latin typeface="Neo Tech Bold"/>
                <a:ea typeface="Neo Tech Bold"/>
                <a:cs typeface="Neo Tech Bold"/>
                <a:sym typeface="Neo Tech Bold"/>
              </a:rPr>
              <a:t>THANK YOU FOR YOUR ATTENTION!</a:t>
            </a:r>
          </a:p>
          <a:p>
            <a:pPr algn="ctr">
              <a:lnSpc>
                <a:spcPts val="7365"/>
              </a:lnSpc>
            </a:pPr>
            <a:r>
              <a:rPr lang="en-US" sz="6460" b="1" dirty="0">
                <a:solidFill>
                  <a:srgbClr val="005FC2"/>
                </a:solidFill>
                <a:latin typeface="Neo Tech Bold"/>
                <a:ea typeface="Neo Tech Bold"/>
                <a:cs typeface="Neo Tech Bold"/>
                <a:sym typeface="Neo Tech Bold"/>
              </a:rPr>
              <a:t> </a:t>
            </a:r>
            <a:r>
              <a:rPr lang="en-US" sz="3600" b="1" dirty="0">
                <a:solidFill>
                  <a:srgbClr val="005FC2"/>
                </a:solidFill>
                <a:latin typeface="Koho Bold"/>
                <a:ea typeface="Koho Bold"/>
                <a:cs typeface="Koho Bold"/>
                <a:sym typeface="Koho Bold"/>
              </a:rPr>
              <a:t>We Welcome Your Questions</a:t>
            </a:r>
          </a:p>
          <a:p>
            <a:pPr marL="0" lvl="0" indent="0" algn="ctr">
              <a:lnSpc>
                <a:spcPts val="7365"/>
              </a:lnSpc>
            </a:pPr>
            <a:endParaRPr lang="en-US" sz="6460" b="1" dirty="0">
              <a:solidFill>
                <a:srgbClr val="005FC2"/>
              </a:solidFill>
              <a:latin typeface="Neo Tech Bold"/>
              <a:ea typeface="Neo Tech Bold"/>
              <a:cs typeface="Neo Tech Bold"/>
              <a:sym typeface="Neo Tech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6337</TotalTime>
  <Words>744</Words>
  <Application>Microsoft Office PowerPoint</Application>
  <PresentationFormat>Custom</PresentationFormat>
  <Paragraphs>61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vt:lpstr>
      <vt:lpstr>Arial</vt:lpstr>
      <vt:lpstr>Koho</vt:lpstr>
      <vt:lpstr>Koho Bold</vt:lpstr>
      <vt:lpstr>Neo Tech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Abdus Salam Islam Badhon</cp:lastModifiedBy>
  <cp:revision>4</cp:revision>
  <dcterms:created xsi:type="dcterms:W3CDTF">2006-08-16T00:00:00Z</dcterms:created>
  <dcterms:modified xsi:type="dcterms:W3CDTF">2026-05-19T01:29:46Z</dcterms:modified>
  <dc:identifier>DAHHpbWnWY8</dc:identifier>
</cp:coreProperties>
</file>