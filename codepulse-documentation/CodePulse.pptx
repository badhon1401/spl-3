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x="18288000" cy="10287000"/>
  <p:notesSz cx="6858000" cy="9144000"/>
  <p:embeddedFontLst>
    <p:embeddedFont>
      <p:font typeface="Neo Tech Bold" charset="1" panose="020B0804030504040204"/>
      <p:regular r:id="rId26"/>
    </p:embeddedFont>
    <p:embeddedFont>
      <p:font typeface="Koho Bold" charset="1" panose="00000800000000000000"/>
      <p:regular r:id="rId27"/>
    </p:embeddedFont>
    <p:embeddedFont>
      <p:font typeface="Koho" charset="1" panose="00000500000000000000"/>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7.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8.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13.jpeg" Type="http://schemas.openxmlformats.org/officeDocument/2006/relationships/image"/><Relationship Id="rId5" Target="../media/image14.jpeg" Type="http://schemas.openxmlformats.org/officeDocument/2006/relationships/image"/><Relationship Id="rId6" Target="../media/image15.png" Type="http://schemas.openxmlformats.org/officeDocument/2006/relationships/image"/><Relationship Id="rId7" Target="../media/image16.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17.png" Type="http://schemas.openxmlformats.org/officeDocument/2006/relationships/image"/><Relationship Id="rId5" Target="../media/image18.png" Type="http://schemas.openxmlformats.org/officeDocument/2006/relationships/image"/><Relationship Id="rId6" Target="../media/image19.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20.png" Type="http://schemas.openxmlformats.org/officeDocument/2006/relationships/image"/><Relationship Id="rId5" Target="../media/image21.png" Type="http://schemas.openxmlformats.org/officeDocument/2006/relationships/image"/><Relationship Id="rId6" Target="../media/image22.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23.jpeg" Type="http://schemas.openxmlformats.org/officeDocument/2006/relationships/image"/><Relationship Id="rId5" Target="../media/image24.jpeg" Type="http://schemas.openxmlformats.org/officeDocument/2006/relationships/image"/><Relationship Id="rId6" Target="../media/image15.png" Type="http://schemas.openxmlformats.org/officeDocument/2006/relationships/image"/><Relationship Id="rId7" Target="../media/image16.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25.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26.png" Type="http://schemas.openxmlformats.org/officeDocument/2006/relationships/image"/><Relationship Id="rId5" Target="../media/image27.png" Type="http://schemas.openxmlformats.org/officeDocument/2006/relationships/image"/><Relationship Id="rId6" Target="../media/image28.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29.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30.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921704" y="2431568"/>
            <a:ext cx="10169694" cy="4423898"/>
          </a:xfrm>
          <a:prstGeom prst="rect">
            <a:avLst/>
          </a:prstGeom>
        </p:spPr>
        <p:txBody>
          <a:bodyPr anchor="t" rtlCol="false" tIns="0" lIns="0" bIns="0" rIns="0">
            <a:spAutoFit/>
          </a:bodyPr>
          <a:lstStyle/>
          <a:p>
            <a:pPr algn="l" marL="0" indent="0" lvl="0">
              <a:lnSpc>
                <a:spcPts val="8478"/>
              </a:lnSpc>
            </a:pPr>
            <a:r>
              <a:rPr lang="en-US" b="true" sz="7437">
                <a:solidFill>
                  <a:srgbClr val="005FC2"/>
                </a:solidFill>
                <a:latin typeface="Neo Tech Bold"/>
                <a:ea typeface="Neo Tech Bold"/>
                <a:cs typeface="Neo Tech Bold"/>
                <a:sym typeface="Neo Tech Bold"/>
              </a:rPr>
              <a:t>CODEPULSE — INTELLIGENT CODING PERFORMANCE ANALYZER</a:t>
            </a:r>
          </a:p>
        </p:txBody>
      </p:sp>
      <p:sp>
        <p:nvSpPr>
          <p:cNvPr name="Freeform 3" id="3"/>
          <p:cNvSpPr/>
          <p:nvPr/>
        </p:nvSpPr>
        <p:spPr>
          <a:xfrm flipH="true" flipV="false" rot="0">
            <a:off x="13499617" y="-3375063"/>
            <a:ext cx="7161170" cy="10230243"/>
          </a:xfrm>
          <a:custGeom>
            <a:avLst/>
            <a:gdLst/>
            <a:ahLst/>
            <a:cxnLst/>
            <a:rect r="r" b="b" t="t" l="l"/>
            <a:pathLst>
              <a:path h="10230243" w="7161170">
                <a:moveTo>
                  <a:pt x="7161170" y="0"/>
                </a:moveTo>
                <a:lnTo>
                  <a:pt x="0" y="0"/>
                </a:lnTo>
                <a:lnTo>
                  <a:pt x="0" y="10230242"/>
                </a:lnTo>
                <a:lnTo>
                  <a:pt x="7161170" y="10230242"/>
                </a:lnTo>
                <a:lnTo>
                  <a:pt x="716117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4921704" y="6928946"/>
            <a:ext cx="10738439" cy="793736"/>
          </a:xfrm>
          <a:prstGeom prst="rect">
            <a:avLst/>
          </a:prstGeom>
        </p:spPr>
        <p:txBody>
          <a:bodyPr anchor="t" rtlCol="false" tIns="0" lIns="0" bIns="0" rIns="0">
            <a:spAutoFit/>
          </a:bodyPr>
          <a:lstStyle/>
          <a:p>
            <a:pPr algn="l" marL="0" indent="0" lvl="0">
              <a:lnSpc>
                <a:spcPts val="2103"/>
              </a:lnSpc>
            </a:pPr>
            <a:r>
              <a:rPr lang="en-US" b="true" sz="1845">
                <a:solidFill>
                  <a:srgbClr val="005FC2"/>
                </a:solidFill>
                <a:latin typeface="Koho Bold"/>
                <a:ea typeface="Koho Bold"/>
                <a:cs typeface="Koho Bold"/>
                <a:sym typeface="Koho Bold"/>
              </a:rPr>
              <a:t>Project Proposal Presentation</a:t>
            </a:r>
          </a:p>
          <a:p>
            <a:pPr algn="l" marL="0" indent="0" lvl="0">
              <a:lnSpc>
                <a:spcPts val="2103"/>
              </a:lnSpc>
            </a:pPr>
            <a:r>
              <a:rPr lang="en-US" b="true" sz="1845">
                <a:solidFill>
                  <a:srgbClr val="005FC2"/>
                </a:solidFill>
                <a:latin typeface="Koho Bold"/>
                <a:ea typeface="Koho Bold"/>
                <a:cs typeface="Koho Bold"/>
                <a:sym typeface="Koho Bold"/>
              </a:rPr>
              <a:t>Abdus Salam Islam Badhon (BSSE-1401)</a:t>
            </a:r>
          </a:p>
          <a:p>
            <a:pPr algn="l" marL="0" indent="0" lvl="0">
              <a:lnSpc>
                <a:spcPts val="2103"/>
              </a:lnSpc>
            </a:pPr>
            <a:r>
              <a:rPr lang="en-US" b="true" sz="1845">
                <a:solidFill>
                  <a:srgbClr val="005FC2"/>
                </a:solidFill>
                <a:latin typeface="Koho Bold"/>
                <a:ea typeface="Koho Bold"/>
                <a:cs typeface="Koho Bold"/>
                <a:sym typeface="Koho Bold"/>
              </a:rPr>
              <a:t>Supervisor: Mohd. Zulfiquar Hafiz</a:t>
            </a:r>
          </a:p>
        </p:txBody>
      </p:sp>
      <p:sp>
        <p:nvSpPr>
          <p:cNvPr name="Freeform 5" id="5"/>
          <p:cNvSpPr/>
          <p:nvPr/>
        </p:nvSpPr>
        <p:spPr>
          <a:xfrm flipH="false" flipV="true" rot="-151067">
            <a:off x="-1812924" y="4400378"/>
            <a:ext cx="7161170" cy="10230243"/>
          </a:xfrm>
          <a:custGeom>
            <a:avLst/>
            <a:gdLst/>
            <a:ahLst/>
            <a:cxnLst/>
            <a:rect r="r" b="b" t="t" l="l"/>
            <a:pathLst>
              <a:path h="10230243" w="7161170">
                <a:moveTo>
                  <a:pt x="0" y="10230242"/>
                </a:moveTo>
                <a:lnTo>
                  <a:pt x="7161170" y="10230242"/>
                </a:lnTo>
                <a:lnTo>
                  <a:pt x="7161170" y="0"/>
                </a:lnTo>
                <a:lnTo>
                  <a:pt x="0" y="0"/>
                </a:lnTo>
                <a:lnTo>
                  <a:pt x="0" y="10230242"/>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325238" y="-1294162"/>
            <a:ext cx="7793442" cy="4080930"/>
          </a:xfrm>
          <a:custGeom>
            <a:avLst/>
            <a:gdLst/>
            <a:ahLst/>
            <a:cxnLst/>
            <a:rect r="r" b="b" t="t" l="l"/>
            <a:pathLst>
              <a:path h="4080930" w="7793442">
                <a:moveTo>
                  <a:pt x="0" y="0"/>
                </a:moveTo>
                <a:lnTo>
                  <a:pt x="7793442" y="0"/>
                </a:lnTo>
                <a:lnTo>
                  <a:pt x="7793442" y="4080930"/>
                </a:lnTo>
                <a:lnTo>
                  <a:pt x="0" y="408093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0494558" y="7817332"/>
            <a:ext cx="7793442" cy="4080930"/>
          </a:xfrm>
          <a:custGeom>
            <a:avLst/>
            <a:gdLst/>
            <a:ahLst/>
            <a:cxnLst/>
            <a:rect r="r" b="b" t="t" l="l"/>
            <a:pathLst>
              <a:path h="4080930" w="7793442">
                <a:moveTo>
                  <a:pt x="0" y="0"/>
                </a:moveTo>
                <a:lnTo>
                  <a:pt x="7793442" y="0"/>
                </a:lnTo>
                <a:lnTo>
                  <a:pt x="7793442" y="4080930"/>
                </a:lnTo>
                <a:lnTo>
                  <a:pt x="0" y="408093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05FC2"/>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7221231" y="1520888"/>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5400000">
            <a:off x="12384810" y="2397377"/>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3733727" y="4511990"/>
            <a:ext cx="665955" cy="669725"/>
          </a:xfrm>
          <a:custGeom>
            <a:avLst/>
            <a:gdLst/>
            <a:ahLst/>
            <a:cxnLst/>
            <a:rect r="r" b="b" t="t" l="l"/>
            <a:pathLst>
              <a:path h="669725" w="665955">
                <a:moveTo>
                  <a:pt x="0" y="0"/>
                </a:moveTo>
                <a:lnTo>
                  <a:pt x="665956" y="0"/>
                </a:lnTo>
                <a:lnTo>
                  <a:pt x="665956" y="669725"/>
                </a:lnTo>
                <a:lnTo>
                  <a:pt x="0" y="669725"/>
                </a:lnTo>
                <a:lnTo>
                  <a:pt x="0" y="0"/>
                </a:lnTo>
                <a:close/>
              </a:path>
            </a:pathLst>
          </a:custGeom>
          <a:blipFill>
            <a:blip r:embed="rId4"/>
            <a:stretch>
              <a:fillRect l="0" t="0" r="0" b="0"/>
            </a:stretch>
          </a:blipFill>
        </p:spPr>
      </p:sp>
      <p:sp>
        <p:nvSpPr>
          <p:cNvPr name="TextBox 5" id="5"/>
          <p:cNvSpPr txBox="true"/>
          <p:nvPr/>
        </p:nvSpPr>
        <p:spPr>
          <a:xfrm rot="0">
            <a:off x="4336389" y="1587629"/>
            <a:ext cx="9615222" cy="1238250"/>
          </a:xfrm>
          <a:prstGeom prst="rect">
            <a:avLst/>
          </a:prstGeom>
        </p:spPr>
        <p:txBody>
          <a:bodyPr anchor="t" rtlCol="false" tIns="0" lIns="0" bIns="0" rIns="0">
            <a:spAutoFit/>
          </a:bodyPr>
          <a:lstStyle/>
          <a:p>
            <a:pPr algn="ctr" marL="0" indent="0" lvl="0">
              <a:lnSpc>
                <a:spcPts val="8549"/>
              </a:lnSpc>
            </a:pPr>
            <a:r>
              <a:rPr lang="en-US" b="true" sz="7500">
                <a:solidFill>
                  <a:srgbClr val="FFFFFF"/>
                </a:solidFill>
                <a:latin typeface="Neo Tech Bold"/>
                <a:ea typeface="Neo Tech Bold"/>
                <a:cs typeface="Neo Tech Bold"/>
                <a:sym typeface="Neo Tech Bold"/>
              </a:rPr>
              <a:t>TABLE OF CONTENTS</a:t>
            </a:r>
          </a:p>
        </p:txBody>
      </p:sp>
      <p:sp>
        <p:nvSpPr>
          <p:cNvPr name="TextBox 6" id="6"/>
          <p:cNvSpPr txBox="true"/>
          <p:nvPr/>
        </p:nvSpPr>
        <p:spPr>
          <a:xfrm rot="0">
            <a:off x="4794796" y="4315722"/>
            <a:ext cx="10580784" cy="11929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Introduction &amp; Motivation: Understanding the need for intelligent coding performance analysis, problem statement, and research gap in existing platforms.</a:t>
            </a:r>
          </a:p>
        </p:txBody>
      </p:sp>
      <p:sp>
        <p:nvSpPr>
          <p:cNvPr name="TextBox 7" id="7"/>
          <p:cNvSpPr txBox="true"/>
          <p:nvPr/>
        </p:nvSpPr>
        <p:spPr>
          <a:xfrm rot="0">
            <a:off x="4813846" y="5856350"/>
            <a:ext cx="10580784" cy="11929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Objectives &amp; Solution: Project goals, proposed CodePulse system, system modules, workflow architecture, and technology stack overview.</a:t>
            </a:r>
          </a:p>
        </p:txBody>
      </p:sp>
      <p:sp>
        <p:nvSpPr>
          <p:cNvPr name="TextBox 8" id="8"/>
          <p:cNvSpPr txBox="true"/>
          <p:nvPr/>
        </p:nvSpPr>
        <p:spPr>
          <a:xfrm rot="0">
            <a:off x="4813846" y="7401685"/>
            <a:ext cx="10580784" cy="11929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Implementation &amp; Outcomes: System architecture, project timeline, expected technical and academic outcomes, conclusion, and references.</a:t>
            </a:r>
          </a:p>
        </p:txBody>
      </p:sp>
      <p:sp>
        <p:nvSpPr>
          <p:cNvPr name="Freeform 9" id="9"/>
          <p:cNvSpPr/>
          <p:nvPr/>
        </p:nvSpPr>
        <p:spPr>
          <a:xfrm flipH="false" flipV="false" rot="0">
            <a:off x="3733727" y="5943715"/>
            <a:ext cx="665955" cy="669725"/>
          </a:xfrm>
          <a:custGeom>
            <a:avLst/>
            <a:gdLst/>
            <a:ahLst/>
            <a:cxnLst/>
            <a:rect r="r" b="b" t="t" l="l"/>
            <a:pathLst>
              <a:path h="669725" w="665955">
                <a:moveTo>
                  <a:pt x="0" y="0"/>
                </a:moveTo>
                <a:lnTo>
                  <a:pt x="665956" y="0"/>
                </a:lnTo>
                <a:lnTo>
                  <a:pt x="665956" y="669725"/>
                </a:lnTo>
                <a:lnTo>
                  <a:pt x="0" y="669725"/>
                </a:lnTo>
                <a:lnTo>
                  <a:pt x="0" y="0"/>
                </a:lnTo>
                <a:close/>
              </a:path>
            </a:pathLst>
          </a:custGeom>
          <a:blipFill>
            <a:blip r:embed="rId4"/>
            <a:stretch>
              <a:fillRect l="0" t="0" r="0" b="0"/>
            </a:stretch>
          </a:blipFill>
        </p:spPr>
      </p:sp>
      <p:sp>
        <p:nvSpPr>
          <p:cNvPr name="Freeform 10" id="10"/>
          <p:cNvSpPr/>
          <p:nvPr/>
        </p:nvSpPr>
        <p:spPr>
          <a:xfrm flipH="false" flipV="false" rot="0">
            <a:off x="3733727" y="7373110"/>
            <a:ext cx="665955" cy="669725"/>
          </a:xfrm>
          <a:custGeom>
            <a:avLst/>
            <a:gdLst/>
            <a:ahLst/>
            <a:cxnLst/>
            <a:rect r="r" b="b" t="t" l="l"/>
            <a:pathLst>
              <a:path h="669725" w="665955">
                <a:moveTo>
                  <a:pt x="0" y="0"/>
                </a:moveTo>
                <a:lnTo>
                  <a:pt x="665956" y="0"/>
                </a:lnTo>
                <a:lnTo>
                  <a:pt x="665956" y="669725"/>
                </a:lnTo>
                <a:lnTo>
                  <a:pt x="0" y="669725"/>
                </a:lnTo>
                <a:lnTo>
                  <a:pt x="0" y="0"/>
                </a:lnTo>
                <a:close/>
              </a:path>
            </a:pathLst>
          </a:custGeom>
          <a:blipFill>
            <a:blip r:embed="rId4"/>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614835" y="2058343"/>
            <a:ext cx="10894849" cy="1238250"/>
          </a:xfrm>
          <a:prstGeom prst="rect">
            <a:avLst/>
          </a:prstGeom>
        </p:spPr>
        <p:txBody>
          <a:bodyPr anchor="t" rtlCol="false" tIns="0" lIns="0" bIns="0" rIns="0">
            <a:spAutoFit/>
          </a:bodyPr>
          <a:lstStyle/>
          <a:p>
            <a:pPr algn="l" marL="0" indent="0" lvl="0">
              <a:lnSpc>
                <a:spcPts val="8549"/>
              </a:lnSpc>
            </a:pPr>
            <a:r>
              <a:rPr lang="en-US" b="true" sz="7500">
                <a:solidFill>
                  <a:srgbClr val="005FC2"/>
                </a:solidFill>
                <a:latin typeface="Neo Tech Bold"/>
                <a:ea typeface="Neo Tech Bold"/>
                <a:cs typeface="Neo Tech Bold"/>
                <a:sym typeface="Neo Tech Bold"/>
              </a:rPr>
              <a:t>INTRODUCTION</a:t>
            </a:r>
          </a:p>
        </p:txBody>
      </p:sp>
      <p:sp>
        <p:nvSpPr>
          <p:cNvPr name="TextBox 3" id="3"/>
          <p:cNvSpPr txBox="true"/>
          <p:nvPr/>
        </p:nvSpPr>
        <p:spPr>
          <a:xfrm rot="0">
            <a:off x="5614835" y="3898486"/>
            <a:ext cx="10894849" cy="47933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CodePulse is an intelligent coding performance analyzer designed to transform how programmers improve their skills. While popular coding platforms like Codeforces and LeetCode provide practice opportunities, they lack unified performance analysis and actionable insights.</a:t>
            </a:r>
          </a:p>
          <a:p>
            <a:pPr algn="l" marL="0" indent="0" lvl="0">
              <a:lnSpc>
                <a:spcPts val="3191"/>
              </a:lnSpc>
            </a:pPr>
            <a:r>
              <a:rPr lang="en-US" sz="2799">
                <a:solidFill>
                  <a:srgbClr val="005FC2"/>
                </a:solidFill>
                <a:latin typeface="Koho"/>
                <a:ea typeface="Koho"/>
                <a:cs typeface="Koho"/>
                <a:sym typeface="Koho"/>
              </a:rPr>
              <a:t>CodePulse bridges this gap by analyzing coding data from multiple platforms to identify weaknesses, track progress, and guide learning paths. Our target users include competitive programmers seeking to level up, computer science students preparing for assessments, and job candidates preparing for technical interviews.</a:t>
            </a:r>
          </a:p>
          <a:p>
            <a:pPr algn="l" marL="0" indent="0" lvl="0">
              <a:lnSpc>
                <a:spcPts val="3191"/>
              </a:lnSpc>
            </a:pPr>
            <a:r>
              <a:rPr lang="en-US" sz="2799">
                <a:solidFill>
                  <a:srgbClr val="005FC2"/>
                </a:solidFill>
                <a:latin typeface="Koho"/>
                <a:ea typeface="Koho"/>
                <a:cs typeface="Koho"/>
                <a:sym typeface="Koho"/>
              </a:rPr>
              <a:t>The core purpose of CodePulse is to transform scattered statistics into intelligent, actionable insights that enable efficient and structured skill development.</a:t>
            </a:r>
          </a:p>
        </p:txBody>
      </p:sp>
      <p:sp>
        <p:nvSpPr>
          <p:cNvPr name="Freeform 4" id="4"/>
          <p:cNvSpPr/>
          <p:nvPr/>
        </p:nvSpPr>
        <p:spPr>
          <a:xfrm flipH="false" flipV="false" rot="-5400000">
            <a:off x="-5619092" y="1105270"/>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341974" y="4178708"/>
            <a:ext cx="8975409" cy="15929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Current coding platforms like Codeforces and LeetCode lack structured feedback mechanisms. Users receive no automated weakness detection or personalized guidance to improve their skills systematically.</a:t>
            </a:r>
          </a:p>
        </p:txBody>
      </p:sp>
      <p:sp>
        <p:nvSpPr>
          <p:cNvPr name="Freeform 3" id="3"/>
          <p:cNvSpPr/>
          <p:nvPr/>
        </p:nvSpPr>
        <p:spPr>
          <a:xfrm flipH="true" flipV="false" rot="-10149532">
            <a:off x="-3580585" y="4143179"/>
            <a:ext cx="7161170" cy="10230243"/>
          </a:xfrm>
          <a:custGeom>
            <a:avLst/>
            <a:gdLst/>
            <a:ahLst/>
            <a:cxnLst/>
            <a:rect r="r" b="b" t="t" l="l"/>
            <a:pathLst>
              <a:path h="10230243" w="7161170">
                <a:moveTo>
                  <a:pt x="7161170" y="0"/>
                </a:moveTo>
                <a:lnTo>
                  <a:pt x="0" y="0"/>
                </a:lnTo>
                <a:lnTo>
                  <a:pt x="0" y="10230242"/>
                </a:lnTo>
                <a:lnTo>
                  <a:pt x="7161170" y="10230242"/>
                </a:lnTo>
                <a:lnTo>
                  <a:pt x="716117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false" rot="129211">
            <a:off x="14707415" y="-4280324"/>
            <a:ext cx="7161170" cy="10230243"/>
          </a:xfrm>
          <a:custGeom>
            <a:avLst/>
            <a:gdLst/>
            <a:ahLst/>
            <a:cxnLst/>
            <a:rect r="r" b="b" t="t" l="l"/>
            <a:pathLst>
              <a:path h="10230243" w="7161170">
                <a:moveTo>
                  <a:pt x="7161170" y="0"/>
                </a:moveTo>
                <a:lnTo>
                  <a:pt x="0" y="0"/>
                </a:lnTo>
                <a:lnTo>
                  <a:pt x="0" y="10230242"/>
                </a:lnTo>
                <a:lnTo>
                  <a:pt x="7161170" y="10230242"/>
                </a:lnTo>
                <a:lnTo>
                  <a:pt x="716117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468113" y="3060968"/>
            <a:ext cx="5947374" cy="5887900"/>
          </a:xfrm>
          <a:custGeom>
            <a:avLst/>
            <a:gdLst/>
            <a:ahLst/>
            <a:cxnLst/>
            <a:rect r="r" b="b" t="t" l="l"/>
            <a:pathLst>
              <a:path h="5887900" w="5947374">
                <a:moveTo>
                  <a:pt x="0" y="0"/>
                </a:moveTo>
                <a:lnTo>
                  <a:pt x="5947374" y="0"/>
                </a:lnTo>
                <a:lnTo>
                  <a:pt x="5947374" y="5887900"/>
                </a:lnTo>
                <a:lnTo>
                  <a:pt x="0" y="5887900"/>
                </a:lnTo>
                <a:lnTo>
                  <a:pt x="0" y="0"/>
                </a:lnTo>
                <a:close/>
              </a:path>
            </a:pathLst>
          </a:custGeom>
          <a:blipFill>
            <a:blip r:embed="rId4"/>
            <a:stretch>
              <a:fillRect l="0" t="0" r="0" b="0"/>
            </a:stretch>
          </a:blipFill>
        </p:spPr>
      </p:sp>
      <p:sp>
        <p:nvSpPr>
          <p:cNvPr name="TextBox 6" id="6"/>
          <p:cNvSpPr txBox="true"/>
          <p:nvPr/>
        </p:nvSpPr>
        <p:spPr>
          <a:xfrm rot="0">
            <a:off x="3622883" y="1246437"/>
            <a:ext cx="10894849" cy="1238250"/>
          </a:xfrm>
          <a:prstGeom prst="rect">
            <a:avLst/>
          </a:prstGeom>
        </p:spPr>
        <p:txBody>
          <a:bodyPr anchor="t" rtlCol="false" tIns="0" lIns="0" bIns="0" rIns="0">
            <a:spAutoFit/>
          </a:bodyPr>
          <a:lstStyle/>
          <a:p>
            <a:pPr algn="ctr" marL="0" indent="0" lvl="0">
              <a:lnSpc>
                <a:spcPts val="8549"/>
              </a:lnSpc>
            </a:pPr>
            <a:r>
              <a:rPr lang="en-US" b="true" sz="7500">
                <a:solidFill>
                  <a:srgbClr val="005FC2"/>
                </a:solidFill>
                <a:latin typeface="Neo Tech Bold"/>
                <a:ea typeface="Neo Tech Bold"/>
                <a:cs typeface="Neo Tech Bold"/>
                <a:sym typeface="Neo Tech Bold"/>
              </a:rPr>
              <a:t>MOTIVATION</a:t>
            </a:r>
          </a:p>
        </p:txBody>
      </p:sp>
      <p:sp>
        <p:nvSpPr>
          <p:cNvPr name="TextBox 7" id="7"/>
          <p:cNvSpPr txBox="true"/>
          <p:nvPr/>
        </p:nvSpPr>
        <p:spPr>
          <a:xfrm rot="0">
            <a:off x="7341974" y="6578754"/>
            <a:ext cx="8975409" cy="15929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Learning becomes inefficient and repetitive without data-driven insights. CodePulse addresses this gap by introducing personalized analytics and intelligent recommendations for targeted skill improvement.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3696575" y="1488837"/>
            <a:ext cx="10894849" cy="1238210"/>
          </a:xfrm>
          <a:prstGeom prst="rect">
            <a:avLst/>
          </a:prstGeom>
        </p:spPr>
        <p:txBody>
          <a:bodyPr anchor="t" rtlCol="false" tIns="0" lIns="0" bIns="0" rIns="0">
            <a:spAutoFit/>
          </a:bodyPr>
          <a:lstStyle/>
          <a:p>
            <a:pPr algn="ctr" marL="0" indent="0" lvl="0">
              <a:lnSpc>
                <a:spcPts val="8543"/>
              </a:lnSpc>
            </a:pPr>
            <a:r>
              <a:rPr lang="en-US" b="true" sz="7494">
                <a:solidFill>
                  <a:srgbClr val="005FC2"/>
                </a:solidFill>
                <a:latin typeface="Neo Tech Bold"/>
                <a:ea typeface="Neo Tech Bold"/>
                <a:cs typeface="Neo Tech Bold"/>
                <a:sym typeface="Neo Tech Bold"/>
              </a:rPr>
              <a:t>PROBLEM STATEMENT</a:t>
            </a:r>
          </a:p>
        </p:txBody>
      </p:sp>
      <p:sp>
        <p:nvSpPr>
          <p:cNvPr name="TextBox 3" id="3"/>
          <p:cNvSpPr txBox="true"/>
          <p:nvPr/>
        </p:nvSpPr>
        <p:spPr>
          <a:xfrm rot="0">
            <a:off x="5403738" y="3309309"/>
            <a:ext cx="8868773" cy="1992996"/>
          </a:xfrm>
          <a:prstGeom prst="rect">
            <a:avLst/>
          </a:prstGeom>
        </p:spPr>
        <p:txBody>
          <a:bodyPr anchor="t" rtlCol="false" tIns="0" lIns="0" bIns="0" rIns="0">
            <a:spAutoFit/>
          </a:bodyPr>
          <a:lstStyle/>
          <a:p>
            <a:pPr algn="just" marL="0" indent="0" lvl="0">
              <a:lnSpc>
                <a:spcPts val="3189"/>
              </a:lnSpc>
            </a:pPr>
            <a:r>
              <a:rPr lang="en-US" sz="2798">
                <a:solidFill>
                  <a:srgbClr val="005FC2"/>
                </a:solidFill>
                <a:latin typeface="Koho"/>
                <a:ea typeface="Koho"/>
                <a:cs typeface="Koho"/>
                <a:sym typeface="Koho"/>
              </a:rPr>
              <a:t>No centralized system exists for deep coding performance analysis. Current platforms like Codeforces and LeetCode only display surface-level statistics without providing meaningful insights into a programmer's actual skill development or learning gaps.</a:t>
            </a:r>
          </a:p>
        </p:txBody>
      </p:sp>
      <p:sp>
        <p:nvSpPr>
          <p:cNvPr name="Freeform 4" id="4"/>
          <p:cNvSpPr/>
          <p:nvPr/>
        </p:nvSpPr>
        <p:spPr>
          <a:xfrm flipH="false" flipV="false" rot="-7720815">
            <a:off x="-5386022" y="5635688"/>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true" flipV="false" rot="-8367064">
            <a:off x="10341117" y="-1585888"/>
            <a:ext cx="13836366" cy="7245224"/>
          </a:xfrm>
          <a:custGeom>
            <a:avLst/>
            <a:gdLst/>
            <a:ahLst/>
            <a:cxnLst/>
            <a:rect r="r" b="b" t="t" l="l"/>
            <a:pathLst>
              <a:path h="7245224" w="13836366">
                <a:moveTo>
                  <a:pt x="13836366" y="0"/>
                </a:moveTo>
                <a:lnTo>
                  <a:pt x="0" y="0"/>
                </a:lnTo>
                <a:lnTo>
                  <a:pt x="0" y="7245225"/>
                </a:lnTo>
                <a:lnTo>
                  <a:pt x="13836366" y="7245225"/>
                </a:lnTo>
                <a:lnTo>
                  <a:pt x="13836366"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4015489" y="4017828"/>
            <a:ext cx="947448" cy="947448"/>
          </a:xfrm>
          <a:custGeom>
            <a:avLst/>
            <a:gdLst/>
            <a:ahLst/>
            <a:cxnLst/>
            <a:rect r="r" b="b" t="t" l="l"/>
            <a:pathLst>
              <a:path h="947448" w="947448">
                <a:moveTo>
                  <a:pt x="0" y="0"/>
                </a:moveTo>
                <a:lnTo>
                  <a:pt x="947448" y="0"/>
                </a:lnTo>
                <a:lnTo>
                  <a:pt x="947448" y="947448"/>
                </a:lnTo>
                <a:lnTo>
                  <a:pt x="0" y="94744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7" id="7"/>
          <p:cNvSpPr txBox="true"/>
          <p:nvPr/>
        </p:nvSpPr>
        <p:spPr>
          <a:xfrm rot="0">
            <a:off x="5476496" y="6407220"/>
            <a:ext cx="8868773" cy="1992996"/>
          </a:xfrm>
          <a:prstGeom prst="rect">
            <a:avLst/>
          </a:prstGeom>
        </p:spPr>
        <p:txBody>
          <a:bodyPr anchor="t" rtlCol="false" tIns="0" lIns="0" bIns="0" rIns="0">
            <a:spAutoFit/>
          </a:bodyPr>
          <a:lstStyle/>
          <a:p>
            <a:pPr algn="just" marL="0" indent="0" lvl="0">
              <a:lnSpc>
                <a:spcPts val="3189"/>
              </a:lnSpc>
            </a:pPr>
            <a:r>
              <a:rPr lang="en-US" sz="2798">
                <a:solidFill>
                  <a:srgbClr val="005FC2"/>
                </a:solidFill>
                <a:latin typeface="Koho"/>
                <a:ea typeface="Koho"/>
                <a:cs typeface="Koho"/>
                <a:sym typeface="Koho"/>
              </a:rPr>
              <a:t>Missing automated weakness detection and personalized recommendations. Programmers cannot identify their weak topics or receive tailored problem suggestions. There is no correlation analysis between problem difficulty levels and individual performance trends over time.</a:t>
            </a:r>
          </a:p>
        </p:txBody>
      </p:sp>
      <p:sp>
        <p:nvSpPr>
          <p:cNvPr name="Freeform 8" id="8"/>
          <p:cNvSpPr/>
          <p:nvPr/>
        </p:nvSpPr>
        <p:spPr>
          <a:xfrm flipH="false" flipV="false" rot="0">
            <a:off x="4088248" y="7115739"/>
            <a:ext cx="947448" cy="947448"/>
          </a:xfrm>
          <a:custGeom>
            <a:avLst/>
            <a:gdLst/>
            <a:ahLst/>
            <a:cxnLst/>
            <a:rect r="r" b="b" t="t" l="l"/>
            <a:pathLst>
              <a:path h="947448" w="947448">
                <a:moveTo>
                  <a:pt x="0" y="0"/>
                </a:moveTo>
                <a:lnTo>
                  <a:pt x="947448" y="0"/>
                </a:lnTo>
                <a:lnTo>
                  <a:pt x="947448" y="947448"/>
                </a:lnTo>
                <a:lnTo>
                  <a:pt x="0" y="94744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005FC2"/>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6918183" y="5888904"/>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3454424" y="1459858"/>
            <a:ext cx="3804876" cy="3547520"/>
            <a:chOff x="0" y="0"/>
            <a:chExt cx="812800" cy="757823"/>
          </a:xfrm>
        </p:grpSpPr>
        <p:sp>
          <p:nvSpPr>
            <p:cNvPr name="Freeform 4" id="4"/>
            <p:cNvSpPr/>
            <p:nvPr/>
          </p:nvSpPr>
          <p:spPr>
            <a:xfrm flipH="false" flipV="false" rot="0">
              <a:off x="0" y="0"/>
              <a:ext cx="812800" cy="757823"/>
            </a:xfrm>
            <a:custGeom>
              <a:avLst/>
              <a:gdLst/>
              <a:ahLst/>
              <a:cxnLst/>
              <a:rect r="r" b="b" t="t" l="l"/>
              <a:pathLst>
                <a:path h="757823" w="812800">
                  <a:moveTo>
                    <a:pt x="46799" y="0"/>
                  </a:moveTo>
                  <a:lnTo>
                    <a:pt x="766001" y="0"/>
                  </a:lnTo>
                  <a:cubicBezTo>
                    <a:pt x="791847" y="0"/>
                    <a:pt x="812800" y="20953"/>
                    <a:pt x="812800" y="46799"/>
                  </a:cubicBezTo>
                  <a:lnTo>
                    <a:pt x="812800" y="711024"/>
                  </a:lnTo>
                  <a:cubicBezTo>
                    <a:pt x="812800" y="736871"/>
                    <a:pt x="791847" y="757823"/>
                    <a:pt x="766001" y="757823"/>
                  </a:cubicBezTo>
                  <a:lnTo>
                    <a:pt x="46799" y="757823"/>
                  </a:lnTo>
                  <a:cubicBezTo>
                    <a:pt x="20953" y="757823"/>
                    <a:pt x="0" y="736871"/>
                    <a:pt x="0" y="711024"/>
                  </a:cubicBezTo>
                  <a:lnTo>
                    <a:pt x="0" y="46799"/>
                  </a:lnTo>
                  <a:cubicBezTo>
                    <a:pt x="0" y="20953"/>
                    <a:pt x="20953" y="0"/>
                    <a:pt x="46799" y="0"/>
                  </a:cubicBezTo>
                  <a:close/>
                </a:path>
              </a:pathLst>
            </a:custGeom>
            <a:blipFill>
              <a:blip r:embed="rId4"/>
              <a:stretch>
                <a:fillRect l="0" t="-3627" r="0" b="-3627"/>
              </a:stretch>
            </a:blipFill>
          </p:spPr>
        </p:sp>
      </p:grpSp>
      <p:grpSp>
        <p:nvGrpSpPr>
          <p:cNvPr name="Group 5" id="5"/>
          <p:cNvGrpSpPr/>
          <p:nvPr/>
        </p:nvGrpSpPr>
        <p:grpSpPr>
          <a:xfrm rot="0">
            <a:off x="13454424" y="5279623"/>
            <a:ext cx="3804876" cy="3547520"/>
            <a:chOff x="0" y="0"/>
            <a:chExt cx="812800" cy="757823"/>
          </a:xfrm>
        </p:grpSpPr>
        <p:sp>
          <p:nvSpPr>
            <p:cNvPr name="Freeform 6" id="6"/>
            <p:cNvSpPr/>
            <p:nvPr/>
          </p:nvSpPr>
          <p:spPr>
            <a:xfrm flipH="false" flipV="false" rot="0">
              <a:off x="0" y="0"/>
              <a:ext cx="812800" cy="757823"/>
            </a:xfrm>
            <a:custGeom>
              <a:avLst/>
              <a:gdLst/>
              <a:ahLst/>
              <a:cxnLst/>
              <a:rect r="r" b="b" t="t" l="l"/>
              <a:pathLst>
                <a:path h="757823" w="812800">
                  <a:moveTo>
                    <a:pt x="46799" y="0"/>
                  </a:moveTo>
                  <a:lnTo>
                    <a:pt x="766001" y="0"/>
                  </a:lnTo>
                  <a:cubicBezTo>
                    <a:pt x="791847" y="0"/>
                    <a:pt x="812800" y="20953"/>
                    <a:pt x="812800" y="46799"/>
                  </a:cubicBezTo>
                  <a:lnTo>
                    <a:pt x="812800" y="711024"/>
                  </a:lnTo>
                  <a:cubicBezTo>
                    <a:pt x="812800" y="736871"/>
                    <a:pt x="791847" y="757823"/>
                    <a:pt x="766001" y="757823"/>
                  </a:cubicBezTo>
                  <a:lnTo>
                    <a:pt x="46799" y="757823"/>
                  </a:lnTo>
                  <a:cubicBezTo>
                    <a:pt x="20953" y="757823"/>
                    <a:pt x="0" y="736871"/>
                    <a:pt x="0" y="711024"/>
                  </a:cubicBezTo>
                  <a:lnTo>
                    <a:pt x="0" y="46799"/>
                  </a:lnTo>
                  <a:cubicBezTo>
                    <a:pt x="0" y="20953"/>
                    <a:pt x="20953" y="0"/>
                    <a:pt x="46799" y="0"/>
                  </a:cubicBezTo>
                  <a:close/>
                </a:path>
              </a:pathLst>
            </a:custGeom>
            <a:blipFill>
              <a:blip r:embed="rId5"/>
              <a:stretch>
                <a:fillRect l="0" t="-3627" r="0" b="-3627"/>
              </a:stretch>
            </a:blipFill>
          </p:spPr>
        </p:sp>
      </p:grpSp>
      <p:sp>
        <p:nvSpPr>
          <p:cNvPr name="Freeform 7" id="7"/>
          <p:cNvSpPr/>
          <p:nvPr/>
        </p:nvSpPr>
        <p:spPr>
          <a:xfrm flipH="false" flipV="false" rot="0">
            <a:off x="1829272" y="3519317"/>
            <a:ext cx="679170" cy="679170"/>
          </a:xfrm>
          <a:custGeom>
            <a:avLst/>
            <a:gdLst/>
            <a:ahLst/>
            <a:cxnLst/>
            <a:rect r="r" b="b" t="t" l="l"/>
            <a:pathLst>
              <a:path h="679170" w="679170">
                <a:moveTo>
                  <a:pt x="0" y="0"/>
                </a:moveTo>
                <a:lnTo>
                  <a:pt x="679170" y="0"/>
                </a:lnTo>
                <a:lnTo>
                  <a:pt x="679170" y="679170"/>
                </a:lnTo>
                <a:lnTo>
                  <a:pt x="0" y="6791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1829272" y="5478561"/>
            <a:ext cx="679170" cy="679170"/>
          </a:xfrm>
          <a:custGeom>
            <a:avLst/>
            <a:gdLst/>
            <a:ahLst/>
            <a:cxnLst/>
            <a:rect r="r" b="b" t="t" l="l"/>
            <a:pathLst>
              <a:path h="679170" w="679170">
                <a:moveTo>
                  <a:pt x="0" y="0"/>
                </a:moveTo>
                <a:lnTo>
                  <a:pt x="679170" y="0"/>
                </a:lnTo>
                <a:lnTo>
                  <a:pt x="679170" y="679169"/>
                </a:lnTo>
                <a:lnTo>
                  <a:pt x="0" y="67916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829272" y="7433472"/>
            <a:ext cx="679170" cy="679170"/>
          </a:xfrm>
          <a:custGeom>
            <a:avLst/>
            <a:gdLst/>
            <a:ahLst/>
            <a:cxnLst/>
            <a:rect r="r" b="b" t="t" l="l"/>
            <a:pathLst>
              <a:path h="679170" w="679170">
                <a:moveTo>
                  <a:pt x="0" y="0"/>
                </a:moveTo>
                <a:lnTo>
                  <a:pt x="679170" y="0"/>
                </a:lnTo>
                <a:lnTo>
                  <a:pt x="679170" y="679169"/>
                </a:lnTo>
                <a:lnTo>
                  <a:pt x="0" y="67916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1829272" y="1383658"/>
            <a:ext cx="10894849" cy="928875"/>
          </a:xfrm>
          <a:prstGeom prst="rect">
            <a:avLst/>
          </a:prstGeom>
        </p:spPr>
        <p:txBody>
          <a:bodyPr anchor="t" rtlCol="false" tIns="0" lIns="0" bIns="0" rIns="0">
            <a:spAutoFit/>
          </a:bodyPr>
          <a:lstStyle/>
          <a:p>
            <a:pPr algn="l" marL="0" indent="0" lvl="0">
              <a:lnSpc>
                <a:spcPts val="6440"/>
              </a:lnSpc>
            </a:pPr>
            <a:r>
              <a:rPr lang="en-US" b="true" sz="5649">
                <a:solidFill>
                  <a:srgbClr val="FFFFFF"/>
                </a:solidFill>
                <a:latin typeface="Neo Tech Bold"/>
                <a:ea typeface="Neo Tech Bold"/>
                <a:cs typeface="Neo Tech Bold"/>
                <a:sym typeface="Neo Tech Bold"/>
              </a:rPr>
              <a:t>RESEARCH GAP &amp; COMPARISON</a:t>
            </a:r>
          </a:p>
        </p:txBody>
      </p:sp>
      <p:sp>
        <p:nvSpPr>
          <p:cNvPr name="TextBox 11" id="11"/>
          <p:cNvSpPr txBox="true"/>
          <p:nvPr/>
        </p:nvSpPr>
        <p:spPr>
          <a:xfrm rot="0">
            <a:off x="2895628" y="3076709"/>
            <a:ext cx="10148400" cy="1592946"/>
          </a:xfrm>
          <a:prstGeom prst="rect">
            <a:avLst/>
          </a:prstGeom>
        </p:spPr>
        <p:txBody>
          <a:bodyPr anchor="t" rtlCol="false" tIns="0" lIns="0" bIns="0" rIns="0">
            <a:spAutoFit/>
          </a:bodyPr>
          <a:lstStyle/>
          <a:p>
            <a:pPr algn="l" marL="0" indent="0" lvl="0">
              <a:lnSpc>
                <a:spcPts val="3189"/>
              </a:lnSpc>
            </a:pPr>
            <a:r>
              <a:rPr lang="en-US" sz="2798">
                <a:solidFill>
                  <a:srgbClr val="FFFFFF"/>
                </a:solidFill>
                <a:latin typeface="Koho"/>
                <a:ea typeface="Koho"/>
                <a:cs typeface="Koho"/>
                <a:sym typeface="Koho"/>
              </a:rPr>
              <a:t>Existing platforms like Codeforces and LeetCode only display surface-level statistics such as problems solved and ratings, without providing deeper insights into coding performance or learning patterns.</a:t>
            </a:r>
          </a:p>
        </p:txBody>
      </p:sp>
      <p:sp>
        <p:nvSpPr>
          <p:cNvPr name="TextBox 12" id="12"/>
          <p:cNvSpPr txBox="true"/>
          <p:nvPr/>
        </p:nvSpPr>
        <p:spPr>
          <a:xfrm rot="0">
            <a:off x="2895628" y="5035952"/>
            <a:ext cx="10148400" cy="1192896"/>
          </a:xfrm>
          <a:prstGeom prst="rect">
            <a:avLst/>
          </a:prstGeom>
        </p:spPr>
        <p:txBody>
          <a:bodyPr anchor="t" rtlCol="false" tIns="0" lIns="0" bIns="0" rIns="0">
            <a:spAutoFit/>
          </a:bodyPr>
          <a:lstStyle/>
          <a:p>
            <a:pPr algn="l" marL="0" indent="0" lvl="0">
              <a:lnSpc>
                <a:spcPts val="3189"/>
              </a:lnSpc>
            </a:pPr>
            <a:r>
              <a:rPr lang="en-US" sz="2798">
                <a:solidFill>
                  <a:srgbClr val="FFFFFF"/>
                </a:solidFill>
                <a:latin typeface="Koho"/>
                <a:ea typeface="Koho"/>
                <a:cs typeface="Koho"/>
                <a:sym typeface="Koho"/>
              </a:rPr>
              <a:t>CodePulse fills this critical gap by offering advanced analytics, intelligent topic modeling, and personalized recommendations that transform raw data into actionable improvement strategies.</a:t>
            </a:r>
          </a:p>
        </p:txBody>
      </p:sp>
      <p:sp>
        <p:nvSpPr>
          <p:cNvPr name="TextBox 13" id="13"/>
          <p:cNvSpPr txBox="true"/>
          <p:nvPr/>
        </p:nvSpPr>
        <p:spPr>
          <a:xfrm rot="0">
            <a:off x="2895628" y="6990863"/>
            <a:ext cx="10148400" cy="1592946"/>
          </a:xfrm>
          <a:prstGeom prst="rect">
            <a:avLst/>
          </a:prstGeom>
        </p:spPr>
        <p:txBody>
          <a:bodyPr anchor="t" rtlCol="false" tIns="0" lIns="0" bIns="0" rIns="0">
            <a:spAutoFit/>
          </a:bodyPr>
          <a:lstStyle/>
          <a:p>
            <a:pPr algn="l" marL="0" indent="0" lvl="0">
              <a:lnSpc>
                <a:spcPts val="3189"/>
              </a:lnSpc>
            </a:pPr>
            <a:r>
              <a:rPr lang="en-US" sz="2798">
                <a:solidFill>
                  <a:srgbClr val="FFFFFF"/>
                </a:solidFill>
                <a:latin typeface="Koho"/>
                <a:ea typeface="Koho"/>
                <a:cs typeface="Koho"/>
                <a:sym typeface="Koho"/>
              </a:rPr>
              <a:t>Unlike competitors, CodePulse uniquely provides Deep Analysis, Multi-Platform Support, Smart Recommendations, and Skill Modeling — features absent in Codeforces, LeetCode, and manual tracking methods.</a:t>
            </a:r>
          </a:p>
        </p:txBody>
      </p:sp>
      <p:sp>
        <p:nvSpPr>
          <p:cNvPr name="Freeform 14" id="14"/>
          <p:cNvSpPr/>
          <p:nvPr/>
        </p:nvSpPr>
        <p:spPr>
          <a:xfrm flipH="false" flipV="false" rot="0">
            <a:off x="6125845" y="-4806690"/>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05FC2"/>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7221231" y="1520888"/>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5400000">
            <a:off x="12384810" y="2397377"/>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3534032" y="4420210"/>
            <a:ext cx="845428" cy="835917"/>
          </a:xfrm>
          <a:custGeom>
            <a:avLst/>
            <a:gdLst/>
            <a:ahLst/>
            <a:cxnLst/>
            <a:rect r="r" b="b" t="t" l="l"/>
            <a:pathLst>
              <a:path h="835917" w="845428">
                <a:moveTo>
                  <a:pt x="0" y="0"/>
                </a:moveTo>
                <a:lnTo>
                  <a:pt x="845428" y="0"/>
                </a:lnTo>
                <a:lnTo>
                  <a:pt x="845428" y="835917"/>
                </a:lnTo>
                <a:lnTo>
                  <a:pt x="0" y="835917"/>
                </a:lnTo>
                <a:lnTo>
                  <a:pt x="0" y="0"/>
                </a:lnTo>
                <a:close/>
              </a:path>
            </a:pathLst>
          </a:custGeom>
          <a:blipFill>
            <a:blip r:embed="rId4"/>
            <a:stretch>
              <a:fillRect l="0" t="0" r="0" b="0"/>
            </a:stretch>
          </a:blipFill>
        </p:spPr>
      </p:sp>
      <p:sp>
        <p:nvSpPr>
          <p:cNvPr name="TextBox 5" id="5"/>
          <p:cNvSpPr txBox="true"/>
          <p:nvPr/>
        </p:nvSpPr>
        <p:spPr>
          <a:xfrm rot="0">
            <a:off x="4336389" y="1587629"/>
            <a:ext cx="9615222" cy="1238250"/>
          </a:xfrm>
          <a:prstGeom prst="rect">
            <a:avLst/>
          </a:prstGeom>
        </p:spPr>
        <p:txBody>
          <a:bodyPr anchor="t" rtlCol="false" tIns="0" lIns="0" bIns="0" rIns="0">
            <a:spAutoFit/>
          </a:bodyPr>
          <a:lstStyle/>
          <a:p>
            <a:pPr algn="ctr" marL="0" indent="0" lvl="0">
              <a:lnSpc>
                <a:spcPts val="8549"/>
              </a:lnSpc>
            </a:pPr>
            <a:r>
              <a:rPr lang="en-US" b="true" sz="7500">
                <a:solidFill>
                  <a:srgbClr val="FFFFFF"/>
                </a:solidFill>
                <a:latin typeface="Neo Tech Bold"/>
                <a:ea typeface="Neo Tech Bold"/>
                <a:cs typeface="Neo Tech Bold"/>
                <a:sym typeface="Neo Tech Bold"/>
              </a:rPr>
              <a:t>OBJECTIVES</a:t>
            </a:r>
          </a:p>
        </p:txBody>
      </p:sp>
      <p:sp>
        <p:nvSpPr>
          <p:cNvPr name="TextBox 6" id="6"/>
          <p:cNvSpPr txBox="true"/>
          <p:nvPr/>
        </p:nvSpPr>
        <p:spPr>
          <a:xfrm rot="0">
            <a:off x="4813846" y="4315722"/>
            <a:ext cx="10580784" cy="11929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Build a full-stack coding performance analyzer application. Collect and process coding data from multiple platforms through API integration.</a:t>
            </a:r>
          </a:p>
        </p:txBody>
      </p:sp>
      <p:sp>
        <p:nvSpPr>
          <p:cNvPr name="TextBox 7" id="7"/>
          <p:cNvSpPr txBox="true"/>
          <p:nvPr/>
        </p:nvSpPr>
        <p:spPr>
          <a:xfrm rot="0">
            <a:off x="4813846" y="5856350"/>
            <a:ext cx="10580784" cy="11929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Detect weaknesses and strengths through advanced topic classification. Develop an intelligent recommendation engine for personalized problem suggestions.</a:t>
            </a:r>
          </a:p>
        </p:txBody>
      </p:sp>
      <p:sp>
        <p:nvSpPr>
          <p:cNvPr name="TextBox 8" id="8"/>
          <p:cNvSpPr txBox="true"/>
          <p:nvPr/>
        </p:nvSpPr>
        <p:spPr>
          <a:xfrm rot="0">
            <a:off x="4813846" y="7401685"/>
            <a:ext cx="10580784" cy="11929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Visualize performance trends with interactive dashboards and charts. Implement secure JWT-based authentication and user management system.</a:t>
            </a:r>
          </a:p>
        </p:txBody>
      </p:sp>
      <p:sp>
        <p:nvSpPr>
          <p:cNvPr name="Freeform 9" id="9"/>
          <p:cNvSpPr/>
          <p:nvPr/>
        </p:nvSpPr>
        <p:spPr>
          <a:xfrm flipH="false" flipV="false" rot="0">
            <a:off x="3427610" y="5849114"/>
            <a:ext cx="912392" cy="834327"/>
          </a:xfrm>
          <a:custGeom>
            <a:avLst/>
            <a:gdLst/>
            <a:ahLst/>
            <a:cxnLst/>
            <a:rect r="r" b="b" t="t" l="l"/>
            <a:pathLst>
              <a:path h="834327" w="912392">
                <a:moveTo>
                  <a:pt x="0" y="0"/>
                </a:moveTo>
                <a:lnTo>
                  <a:pt x="912392" y="0"/>
                </a:lnTo>
                <a:lnTo>
                  <a:pt x="912392" y="834326"/>
                </a:lnTo>
                <a:lnTo>
                  <a:pt x="0" y="834326"/>
                </a:lnTo>
                <a:lnTo>
                  <a:pt x="0" y="0"/>
                </a:lnTo>
                <a:close/>
              </a:path>
            </a:pathLst>
          </a:custGeom>
          <a:blipFill>
            <a:blip r:embed="rId5"/>
            <a:stretch>
              <a:fillRect l="0" t="0" r="0" b="0"/>
            </a:stretch>
          </a:blipFill>
        </p:spPr>
      </p:sp>
      <p:sp>
        <p:nvSpPr>
          <p:cNvPr name="Freeform 10" id="10"/>
          <p:cNvSpPr/>
          <p:nvPr/>
        </p:nvSpPr>
        <p:spPr>
          <a:xfrm flipH="false" flipV="false" rot="0">
            <a:off x="3763955" y="7640507"/>
            <a:ext cx="593529" cy="781389"/>
          </a:xfrm>
          <a:custGeom>
            <a:avLst/>
            <a:gdLst/>
            <a:ahLst/>
            <a:cxnLst/>
            <a:rect r="r" b="b" t="t" l="l"/>
            <a:pathLst>
              <a:path h="781389" w="593529">
                <a:moveTo>
                  <a:pt x="0" y="0"/>
                </a:moveTo>
                <a:lnTo>
                  <a:pt x="593529" y="0"/>
                </a:lnTo>
                <a:lnTo>
                  <a:pt x="593529" y="781390"/>
                </a:lnTo>
                <a:lnTo>
                  <a:pt x="0" y="781390"/>
                </a:lnTo>
                <a:lnTo>
                  <a:pt x="0" y="0"/>
                </a:lnTo>
                <a:close/>
              </a:path>
            </a:pathLst>
          </a:custGeom>
          <a:blipFill>
            <a:blip r:embed="rId6"/>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456048" y="3785953"/>
            <a:ext cx="10894849" cy="4698362"/>
            <a:chOff x="0" y="0"/>
            <a:chExt cx="971835" cy="419100"/>
          </a:xfrm>
        </p:grpSpPr>
        <p:sp>
          <p:nvSpPr>
            <p:cNvPr name="Freeform 3" id="3"/>
            <p:cNvSpPr/>
            <p:nvPr/>
          </p:nvSpPr>
          <p:spPr>
            <a:xfrm flipH="false" flipV="false" rot="0">
              <a:off x="0" y="0"/>
              <a:ext cx="971835" cy="419100"/>
            </a:xfrm>
            <a:custGeom>
              <a:avLst/>
              <a:gdLst/>
              <a:ahLst/>
              <a:cxnLst/>
              <a:rect r="r" b="b" t="t" l="l"/>
              <a:pathLst>
                <a:path h="419100" w="971835">
                  <a:moveTo>
                    <a:pt x="0" y="0"/>
                  </a:moveTo>
                  <a:lnTo>
                    <a:pt x="971835" y="0"/>
                  </a:lnTo>
                  <a:lnTo>
                    <a:pt x="971835" y="419100"/>
                  </a:lnTo>
                  <a:lnTo>
                    <a:pt x="0" y="419100"/>
                  </a:lnTo>
                  <a:close/>
                </a:path>
              </a:pathLst>
            </a:custGeom>
            <a:solidFill>
              <a:srgbClr val="005FC2"/>
            </a:solidFill>
          </p:spPr>
        </p:sp>
        <p:sp>
          <p:nvSpPr>
            <p:cNvPr name="TextBox 4" id="4"/>
            <p:cNvSpPr txBox="true"/>
            <p:nvPr/>
          </p:nvSpPr>
          <p:spPr>
            <a:xfrm>
              <a:off x="0" y="-38100"/>
              <a:ext cx="971835" cy="457200"/>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TextBox 5" id="5"/>
          <p:cNvSpPr txBox="true"/>
          <p:nvPr/>
        </p:nvSpPr>
        <p:spPr>
          <a:xfrm rot="0">
            <a:off x="1855931" y="4333767"/>
            <a:ext cx="10095082" cy="3439568"/>
          </a:xfrm>
          <a:prstGeom prst="rect">
            <a:avLst/>
          </a:prstGeom>
        </p:spPr>
        <p:txBody>
          <a:bodyPr anchor="t" rtlCol="false" tIns="0" lIns="0" bIns="0" rIns="0">
            <a:spAutoFit/>
          </a:bodyPr>
          <a:lstStyle/>
          <a:p>
            <a:pPr algn="l" marL="0" indent="0" lvl="0">
              <a:lnSpc>
                <a:spcPts val="3005"/>
              </a:lnSpc>
            </a:pPr>
            <a:r>
              <a:rPr lang="en-US" sz="2636">
                <a:solidFill>
                  <a:srgbClr val="FFFFFF"/>
                </a:solidFill>
                <a:latin typeface="Koho"/>
                <a:ea typeface="Koho"/>
                <a:cs typeface="Koho"/>
                <a:sym typeface="Koho"/>
              </a:rPr>
              <a:t>CodePulse is a full-stack web application built with Next.js for the frontend and Spring Boot for the backend. The system analyzes coding performance data from platforms like Codeforces and LeetCode, automatically classifies problems by topic, and generates personalized insights and recommendations. Key features include interactive dashboards for visualizing progress, advanced analytics for identifying strengths and weaknesses, and secure user management with JWT authentication. This unified approach transforms scattered statistics into actionable guidance for efficient skill development.</a:t>
            </a:r>
          </a:p>
        </p:txBody>
      </p:sp>
      <p:sp>
        <p:nvSpPr>
          <p:cNvPr name="Freeform 6" id="6"/>
          <p:cNvSpPr/>
          <p:nvPr/>
        </p:nvSpPr>
        <p:spPr>
          <a:xfrm flipH="false" flipV="false" rot="-5400000">
            <a:off x="9591501" y="1520888"/>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1456048" y="1974386"/>
            <a:ext cx="10894849" cy="1238210"/>
          </a:xfrm>
          <a:prstGeom prst="rect">
            <a:avLst/>
          </a:prstGeom>
        </p:spPr>
        <p:txBody>
          <a:bodyPr anchor="t" rtlCol="false" tIns="0" lIns="0" bIns="0" rIns="0">
            <a:spAutoFit/>
          </a:bodyPr>
          <a:lstStyle/>
          <a:p>
            <a:pPr algn="l" marL="0" indent="0" lvl="0">
              <a:lnSpc>
                <a:spcPts val="8543"/>
              </a:lnSpc>
            </a:pPr>
            <a:r>
              <a:rPr lang="en-US" b="true" sz="7494">
                <a:solidFill>
                  <a:srgbClr val="005FC2"/>
                </a:solidFill>
                <a:latin typeface="Neo Tech Bold"/>
                <a:ea typeface="Neo Tech Bold"/>
                <a:cs typeface="Neo Tech Bold"/>
                <a:sym typeface="Neo Tech Bold"/>
              </a:rPr>
              <a:t>PROPOSED SOLUTION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3953809" y="1685119"/>
            <a:ext cx="10894849" cy="1238210"/>
          </a:xfrm>
          <a:prstGeom prst="rect">
            <a:avLst/>
          </a:prstGeom>
        </p:spPr>
        <p:txBody>
          <a:bodyPr anchor="t" rtlCol="false" tIns="0" lIns="0" bIns="0" rIns="0">
            <a:spAutoFit/>
          </a:bodyPr>
          <a:lstStyle/>
          <a:p>
            <a:pPr algn="ctr" marL="0" indent="0" lvl="0">
              <a:lnSpc>
                <a:spcPts val="8543"/>
              </a:lnSpc>
            </a:pPr>
            <a:r>
              <a:rPr lang="en-US" b="true" sz="7494">
                <a:solidFill>
                  <a:srgbClr val="005FC2"/>
                </a:solidFill>
                <a:latin typeface="Neo Tech Bold"/>
                <a:ea typeface="Neo Tech Bold"/>
                <a:cs typeface="Neo Tech Bold"/>
                <a:sym typeface="Neo Tech Bold"/>
              </a:rPr>
              <a:t>SYSTEM MODULES</a:t>
            </a:r>
          </a:p>
        </p:txBody>
      </p:sp>
      <p:sp>
        <p:nvSpPr>
          <p:cNvPr name="TextBox 3" id="3"/>
          <p:cNvSpPr txBox="true"/>
          <p:nvPr/>
        </p:nvSpPr>
        <p:spPr>
          <a:xfrm rot="0">
            <a:off x="7642726" y="5265039"/>
            <a:ext cx="4230126" cy="359321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Performance Analysis</a:t>
            </a:r>
          </a:p>
          <a:p>
            <a:pPr algn="l" marL="0" indent="0" lvl="0">
              <a:lnSpc>
                <a:spcPts val="3191"/>
              </a:lnSpc>
            </a:pPr>
            <a:r>
              <a:rPr lang="en-US" sz="2799">
                <a:solidFill>
                  <a:srgbClr val="005FC2"/>
                </a:solidFill>
                <a:latin typeface="Koho"/>
                <a:ea typeface="Koho"/>
                <a:cs typeface="Koho"/>
                <a:sym typeface="Koho"/>
              </a:rPr>
              <a:t>Analyzes coding submissions to calculate success rates, time complexity patterns, and difficulty-based metrics. Generates actionable insights from raw performance data.</a:t>
            </a:r>
          </a:p>
        </p:txBody>
      </p:sp>
      <p:sp>
        <p:nvSpPr>
          <p:cNvPr name="Freeform 4" id="4"/>
          <p:cNvSpPr/>
          <p:nvPr/>
        </p:nvSpPr>
        <p:spPr>
          <a:xfrm flipH="true" flipV="false" rot="0">
            <a:off x="-3207360" y="-5086743"/>
            <a:ext cx="7161170" cy="10230243"/>
          </a:xfrm>
          <a:custGeom>
            <a:avLst/>
            <a:gdLst/>
            <a:ahLst/>
            <a:cxnLst/>
            <a:rect r="r" b="b" t="t" l="l"/>
            <a:pathLst>
              <a:path h="10230243" w="7161170">
                <a:moveTo>
                  <a:pt x="7161169" y="0"/>
                </a:moveTo>
                <a:lnTo>
                  <a:pt x="0" y="0"/>
                </a:lnTo>
                <a:lnTo>
                  <a:pt x="0" y="10230243"/>
                </a:lnTo>
                <a:lnTo>
                  <a:pt x="7161169" y="10230243"/>
                </a:lnTo>
                <a:lnTo>
                  <a:pt x="716116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true" flipV="false" rot="3885569">
            <a:off x="15560500" y="4143179"/>
            <a:ext cx="7161170" cy="10230243"/>
          </a:xfrm>
          <a:custGeom>
            <a:avLst/>
            <a:gdLst/>
            <a:ahLst/>
            <a:cxnLst/>
            <a:rect r="r" b="b" t="t" l="l"/>
            <a:pathLst>
              <a:path h="10230243" w="7161170">
                <a:moveTo>
                  <a:pt x="7161169" y="0"/>
                </a:moveTo>
                <a:lnTo>
                  <a:pt x="0" y="0"/>
                </a:lnTo>
                <a:lnTo>
                  <a:pt x="0" y="10230242"/>
                </a:lnTo>
                <a:lnTo>
                  <a:pt x="7161169" y="10230242"/>
                </a:lnTo>
                <a:lnTo>
                  <a:pt x="716116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12229407" y="3866959"/>
            <a:ext cx="4656668" cy="279311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Topic Classification</a:t>
            </a:r>
          </a:p>
          <a:p>
            <a:pPr algn="l" marL="0" indent="0" lvl="0">
              <a:lnSpc>
                <a:spcPts val="3191"/>
              </a:lnSpc>
            </a:pPr>
            <a:r>
              <a:rPr lang="en-US" sz="2799">
                <a:solidFill>
                  <a:srgbClr val="005FC2"/>
                </a:solidFill>
                <a:latin typeface="Koho"/>
                <a:ea typeface="Koho"/>
                <a:cs typeface="Koho"/>
                <a:sym typeface="Koho"/>
              </a:rPr>
              <a:t>Automatically categorizes problems by topic areas (arrays, graphs, DP, etc.). Maps user performance to specific skill domains for targeted improvement.</a:t>
            </a:r>
          </a:p>
        </p:txBody>
      </p:sp>
      <p:sp>
        <p:nvSpPr>
          <p:cNvPr name="TextBox 7" id="7"/>
          <p:cNvSpPr txBox="true"/>
          <p:nvPr/>
        </p:nvSpPr>
        <p:spPr>
          <a:xfrm rot="0">
            <a:off x="2629502" y="3866959"/>
            <a:ext cx="4656668" cy="31931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Authentication &amp; Data Collection</a:t>
            </a:r>
          </a:p>
          <a:p>
            <a:pPr algn="l" marL="0" indent="0" lvl="0">
              <a:lnSpc>
                <a:spcPts val="3191"/>
              </a:lnSpc>
            </a:pPr>
            <a:r>
              <a:rPr lang="en-US" sz="2799">
                <a:solidFill>
                  <a:srgbClr val="005FC2"/>
                </a:solidFill>
                <a:latin typeface="Koho"/>
                <a:ea typeface="Koho"/>
                <a:cs typeface="Koho"/>
                <a:sym typeface="Koho"/>
              </a:rPr>
              <a:t>Secure JWT-based user authentication and profile management. API integration with Codeforces and LeetCode to fetch and store coding submissions.</a:t>
            </a:r>
          </a:p>
        </p:txBody>
      </p:sp>
      <p:sp>
        <p:nvSpPr>
          <p:cNvPr name="Freeform 8" id="8"/>
          <p:cNvSpPr/>
          <p:nvPr/>
        </p:nvSpPr>
        <p:spPr>
          <a:xfrm flipH="false" flipV="false" rot="0">
            <a:off x="3953809" y="7660195"/>
            <a:ext cx="679170" cy="679170"/>
          </a:xfrm>
          <a:custGeom>
            <a:avLst/>
            <a:gdLst/>
            <a:ahLst/>
            <a:cxnLst/>
            <a:rect r="r" b="b" t="t" l="l"/>
            <a:pathLst>
              <a:path h="679170" w="679170">
                <a:moveTo>
                  <a:pt x="0" y="0"/>
                </a:moveTo>
                <a:lnTo>
                  <a:pt x="679170" y="0"/>
                </a:lnTo>
                <a:lnTo>
                  <a:pt x="679170" y="679170"/>
                </a:lnTo>
                <a:lnTo>
                  <a:pt x="0" y="6791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4509074" y="7660195"/>
            <a:ext cx="679170" cy="679170"/>
          </a:xfrm>
          <a:custGeom>
            <a:avLst/>
            <a:gdLst/>
            <a:ahLst/>
            <a:cxnLst/>
            <a:rect r="r" b="b" t="t" l="l"/>
            <a:pathLst>
              <a:path h="679170" w="679170">
                <a:moveTo>
                  <a:pt x="0" y="0"/>
                </a:moveTo>
                <a:lnTo>
                  <a:pt x="679169" y="0"/>
                </a:lnTo>
                <a:lnTo>
                  <a:pt x="679169" y="679170"/>
                </a:lnTo>
                <a:lnTo>
                  <a:pt x="0" y="6791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9061649" y="4391102"/>
            <a:ext cx="679170" cy="679170"/>
          </a:xfrm>
          <a:custGeom>
            <a:avLst/>
            <a:gdLst/>
            <a:ahLst/>
            <a:cxnLst/>
            <a:rect r="r" b="b" t="t" l="l"/>
            <a:pathLst>
              <a:path h="679170" w="679170">
                <a:moveTo>
                  <a:pt x="0" y="0"/>
                </a:moveTo>
                <a:lnTo>
                  <a:pt x="679170" y="0"/>
                </a:lnTo>
                <a:lnTo>
                  <a:pt x="679170" y="679169"/>
                </a:lnTo>
                <a:lnTo>
                  <a:pt x="0" y="67916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3953809" y="1704169"/>
            <a:ext cx="10894849" cy="1058384"/>
          </a:xfrm>
          <a:prstGeom prst="rect">
            <a:avLst/>
          </a:prstGeom>
        </p:spPr>
        <p:txBody>
          <a:bodyPr anchor="t" rtlCol="false" tIns="0" lIns="0" bIns="0" rIns="0">
            <a:spAutoFit/>
          </a:bodyPr>
          <a:lstStyle/>
          <a:p>
            <a:pPr algn="ctr" marL="0" indent="0" lvl="0">
              <a:lnSpc>
                <a:spcPts val="7290"/>
              </a:lnSpc>
            </a:pPr>
            <a:r>
              <a:rPr lang="en-US" b="true" sz="6395">
                <a:solidFill>
                  <a:srgbClr val="005FC2"/>
                </a:solidFill>
                <a:latin typeface="Neo Tech Bold"/>
                <a:ea typeface="Neo Tech Bold"/>
                <a:cs typeface="Neo Tech Bold"/>
                <a:sym typeface="Neo Tech Bold"/>
              </a:rPr>
              <a:t>SYSTEM MODULES (PART 2)</a:t>
            </a:r>
          </a:p>
        </p:txBody>
      </p:sp>
      <p:sp>
        <p:nvSpPr>
          <p:cNvPr name="TextBox 3" id="3"/>
          <p:cNvSpPr txBox="true"/>
          <p:nvPr/>
        </p:nvSpPr>
        <p:spPr>
          <a:xfrm rot="0">
            <a:off x="7642726" y="5265039"/>
            <a:ext cx="4230126" cy="31931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Progress Tracking</a:t>
            </a:r>
          </a:p>
          <a:p>
            <a:pPr algn="l" marL="0" indent="0" lvl="0">
              <a:lnSpc>
                <a:spcPts val="3191"/>
              </a:lnSpc>
            </a:pPr>
            <a:r>
              <a:rPr lang="en-US" sz="2799">
                <a:solidFill>
                  <a:srgbClr val="005FC2"/>
                </a:solidFill>
                <a:latin typeface="Koho"/>
                <a:ea typeface="Koho"/>
                <a:cs typeface="Koho"/>
                <a:sym typeface="Koho"/>
              </a:rPr>
              <a:t>Monitor improvement over time with historical data analysis. Track solved problems, rating changes, and skill development milestones to measure your coding journey.</a:t>
            </a:r>
          </a:p>
        </p:txBody>
      </p:sp>
      <p:sp>
        <p:nvSpPr>
          <p:cNvPr name="Freeform 4" id="4"/>
          <p:cNvSpPr/>
          <p:nvPr/>
        </p:nvSpPr>
        <p:spPr>
          <a:xfrm flipH="true" flipV="false" rot="0">
            <a:off x="-3207360" y="-5086743"/>
            <a:ext cx="7161170" cy="10230243"/>
          </a:xfrm>
          <a:custGeom>
            <a:avLst/>
            <a:gdLst/>
            <a:ahLst/>
            <a:cxnLst/>
            <a:rect r="r" b="b" t="t" l="l"/>
            <a:pathLst>
              <a:path h="10230243" w="7161170">
                <a:moveTo>
                  <a:pt x="7161169" y="0"/>
                </a:moveTo>
                <a:lnTo>
                  <a:pt x="0" y="0"/>
                </a:lnTo>
                <a:lnTo>
                  <a:pt x="0" y="10230243"/>
                </a:lnTo>
                <a:lnTo>
                  <a:pt x="7161169" y="10230243"/>
                </a:lnTo>
                <a:lnTo>
                  <a:pt x="716116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true" flipV="false" rot="3885569">
            <a:off x="15560500" y="4143179"/>
            <a:ext cx="7161170" cy="10230243"/>
          </a:xfrm>
          <a:custGeom>
            <a:avLst/>
            <a:gdLst/>
            <a:ahLst/>
            <a:cxnLst/>
            <a:rect r="r" b="b" t="t" l="l"/>
            <a:pathLst>
              <a:path h="10230243" w="7161170">
                <a:moveTo>
                  <a:pt x="7161169" y="0"/>
                </a:moveTo>
                <a:lnTo>
                  <a:pt x="0" y="0"/>
                </a:lnTo>
                <a:lnTo>
                  <a:pt x="0" y="10230242"/>
                </a:lnTo>
                <a:lnTo>
                  <a:pt x="7161169" y="10230242"/>
                </a:lnTo>
                <a:lnTo>
                  <a:pt x="716116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12229407" y="3866959"/>
            <a:ext cx="4656668" cy="279311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Admin Panel</a:t>
            </a:r>
          </a:p>
          <a:p>
            <a:pPr algn="l" marL="0" indent="0" lvl="0">
              <a:lnSpc>
                <a:spcPts val="3191"/>
              </a:lnSpc>
            </a:pPr>
            <a:r>
              <a:rPr lang="en-US" sz="2799">
                <a:solidFill>
                  <a:srgbClr val="005FC2"/>
                </a:solidFill>
                <a:latin typeface="Koho"/>
                <a:ea typeface="Koho"/>
                <a:cs typeface="Koho"/>
                <a:sym typeface="Koho"/>
              </a:rPr>
              <a:t>Manage users, monitor system health, and configure platform settings. Provides administrative controls for maintaining the CodePulse ecosystem.</a:t>
            </a:r>
          </a:p>
        </p:txBody>
      </p:sp>
      <p:sp>
        <p:nvSpPr>
          <p:cNvPr name="TextBox 7" id="7"/>
          <p:cNvSpPr txBox="true"/>
          <p:nvPr/>
        </p:nvSpPr>
        <p:spPr>
          <a:xfrm rot="0">
            <a:off x="2629502" y="3866959"/>
            <a:ext cx="4656668" cy="31931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Recommendation Engine</a:t>
            </a:r>
          </a:p>
          <a:p>
            <a:pPr algn="l" marL="0" indent="0" lvl="0">
              <a:lnSpc>
                <a:spcPts val="3191"/>
              </a:lnSpc>
            </a:pPr>
            <a:r>
              <a:rPr lang="en-US" sz="2799">
                <a:solidFill>
                  <a:srgbClr val="005FC2"/>
                </a:solidFill>
                <a:latin typeface="Koho"/>
                <a:ea typeface="Koho"/>
                <a:cs typeface="Koho"/>
                <a:sym typeface="Koho"/>
              </a:rPr>
              <a:t>Intelligent problem suggestions based on detected weaknesses. Analyzes your performance patterns to recommend targeted practice problems for maximum improvement.</a:t>
            </a:r>
          </a:p>
        </p:txBody>
      </p:sp>
      <p:sp>
        <p:nvSpPr>
          <p:cNvPr name="Freeform 8" id="8"/>
          <p:cNvSpPr/>
          <p:nvPr/>
        </p:nvSpPr>
        <p:spPr>
          <a:xfrm flipH="false" flipV="false" rot="0">
            <a:off x="3953809" y="7660195"/>
            <a:ext cx="679170" cy="679170"/>
          </a:xfrm>
          <a:custGeom>
            <a:avLst/>
            <a:gdLst/>
            <a:ahLst/>
            <a:cxnLst/>
            <a:rect r="r" b="b" t="t" l="l"/>
            <a:pathLst>
              <a:path h="679170" w="679170">
                <a:moveTo>
                  <a:pt x="0" y="0"/>
                </a:moveTo>
                <a:lnTo>
                  <a:pt x="679170" y="0"/>
                </a:lnTo>
                <a:lnTo>
                  <a:pt x="679170" y="679170"/>
                </a:lnTo>
                <a:lnTo>
                  <a:pt x="0" y="6791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4509074" y="7660195"/>
            <a:ext cx="679170" cy="679170"/>
          </a:xfrm>
          <a:custGeom>
            <a:avLst/>
            <a:gdLst/>
            <a:ahLst/>
            <a:cxnLst/>
            <a:rect r="r" b="b" t="t" l="l"/>
            <a:pathLst>
              <a:path h="679170" w="679170">
                <a:moveTo>
                  <a:pt x="0" y="0"/>
                </a:moveTo>
                <a:lnTo>
                  <a:pt x="679169" y="0"/>
                </a:lnTo>
                <a:lnTo>
                  <a:pt x="679169" y="679170"/>
                </a:lnTo>
                <a:lnTo>
                  <a:pt x="0" y="6791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9061649" y="4391102"/>
            <a:ext cx="679170" cy="679170"/>
          </a:xfrm>
          <a:custGeom>
            <a:avLst/>
            <a:gdLst/>
            <a:ahLst/>
            <a:cxnLst/>
            <a:rect r="r" b="b" t="t" l="l"/>
            <a:pathLst>
              <a:path h="679170" w="679170">
                <a:moveTo>
                  <a:pt x="0" y="0"/>
                </a:moveTo>
                <a:lnTo>
                  <a:pt x="679170" y="0"/>
                </a:lnTo>
                <a:lnTo>
                  <a:pt x="679170" y="679169"/>
                </a:lnTo>
                <a:lnTo>
                  <a:pt x="0" y="67916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005FC2"/>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7221231" y="1520888"/>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5400000">
            <a:off x="12384810" y="2397377"/>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3486955" y="4337680"/>
            <a:ext cx="980748" cy="1030166"/>
          </a:xfrm>
          <a:custGeom>
            <a:avLst/>
            <a:gdLst/>
            <a:ahLst/>
            <a:cxnLst/>
            <a:rect r="r" b="b" t="t" l="l"/>
            <a:pathLst>
              <a:path h="1030166" w="980748">
                <a:moveTo>
                  <a:pt x="0" y="0"/>
                </a:moveTo>
                <a:lnTo>
                  <a:pt x="980749" y="0"/>
                </a:lnTo>
                <a:lnTo>
                  <a:pt x="980749" y="1030166"/>
                </a:lnTo>
                <a:lnTo>
                  <a:pt x="0" y="1030166"/>
                </a:lnTo>
                <a:lnTo>
                  <a:pt x="0" y="0"/>
                </a:lnTo>
                <a:close/>
              </a:path>
            </a:pathLst>
          </a:custGeom>
          <a:blipFill>
            <a:blip r:embed="rId4"/>
            <a:stretch>
              <a:fillRect l="0" t="0" r="0" b="0"/>
            </a:stretch>
          </a:blipFill>
        </p:spPr>
      </p:sp>
      <p:sp>
        <p:nvSpPr>
          <p:cNvPr name="TextBox 5" id="5"/>
          <p:cNvSpPr txBox="true"/>
          <p:nvPr/>
        </p:nvSpPr>
        <p:spPr>
          <a:xfrm rot="0">
            <a:off x="4336389" y="1587629"/>
            <a:ext cx="9615222" cy="1238250"/>
          </a:xfrm>
          <a:prstGeom prst="rect">
            <a:avLst/>
          </a:prstGeom>
        </p:spPr>
        <p:txBody>
          <a:bodyPr anchor="t" rtlCol="false" tIns="0" lIns="0" bIns="0" rIns="0">
            <a:spAutoFit/>
          </a:bodyPr>
          <a:lstStyle/>
          <a:p>
            <a:pPr algn="ctr" marL="0" indent="0" lvl="0">
              <a:lnSpc>
                <a:spcPts val="8549"/>
              </a:lnSpc>
            </a:pPr>
            <a:r>
              <a:rPr lang="en-US" b="true" sz="7500">
                <a:solidFill>
                  <a:srgbClr val="FFFFFF"/>
                </a:solidFill>
                <a:latin typeface="Neo Tech Bold"/>
                <a:ea typeface="Neo Tech Bold"/>
                <a:cs typeface="Neo Tech Bold"/>
                <a:sym typeface="Neo Tech Bold"/>
              </a:rPr>
              <a:t>SYSTEM WORKFLOW</a:t>
            </a:r>
          </a:p>
        </p:txBody>
      </p:sp>
      <p:sp>
        <p:nvSpPr>
          <p:cNvPr name="TextBox 6" id="6"/>
          <p:cNvSpPr txBox="true"/>
          <p:nvPr/>
        </p:nvSpPr>
        <p:spPr>
          <a:xfrm rot="0">
            <a:off x="4813846" y="4315722"/>
            <a:ext cx="10580784" cy="11929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Data Flow: User → Fetch Data → Store → Analyze → Output. This pipeline ensures seamless data collection from coding platforms and transforms raw submissions into meaningful performance metrics.</a:t>
            </a:r>
          </a:p>
        </p:txBody>
      </p:sp>
      <p:sp>
        <p:nvSpPr>
          <p:cNvPr name="TextBox 7" id="7"/>
          <p:cNvSpPr txBox="true"/>
          <p:nvPr/>
        </p:nvSpPr>
        <p:spPr>
          <a:xfrm rot="0">
            <a:off x="4813846" y="5856350"/>
            <a:ext cx="10580784" cy="11929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Analysis Flow: Raw Data → Classify → Map Difficulty → Calculate Metrics → Generate Insights. Each submission is categorized by topic and difficulty level to produce actionable analytics.</a:t>
            </a:r>
          </a:p>
        </p:txBody>
      </p:sp>
      <p:sp>
        <p:nvSpPr>
          <p:cNvPr name="TextBox 8" id="8"/>
          <p:cNvSpPr txBox="true"/>
          <p:nvPr/>
        </p:nvSpPr>
        <p:spPr>
          <a:xfrm rot="0">
            <a:off x="4813846" y="7401685"/>
            <a:ext cx="10580784" cy="159296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Recommendation Flow: Detect Weakness → Suggest Problems → User Solves → Feedback Loop Updates Model. The system continuously learns from user progress to refine future recommendations.</a:t>
            </a:r>
          </a:p>
        </p:txBody>
      </p:sp>
      <p:sp>
        <p:nvSpPr>
          <p:cNvPr name="Freeform 9" id="9"/>
          <p:cNvSpPr/>
          <p:nvPr/>
        </p:nvSpPr>
        <p:spPr>
          <a:xfrm flipH="false" flipV="false" rot="0">
            <a:off x="3579827" y="5893693"/>
            <a:ext cx="845428" cy="833787"/>
          </a:xfrm>
          <a:custGeom>
            <a:avLst/>
            <a:gdLst/>
            <a:ahLst/>
            <a:cxnLst/>
            <a:rect r="r" b="b" t="t" l="l"/>
            <a:pathLst>
              <a:path h="833787" w="845428">
                <a:moveTo>
                  <a:pt x="0" y="0"/>
                </a:moveTo>
                <a:lnTo>
                  <a:pt x="845428" y="0"/>
                </a:lnTo>
                <a:lnTo>
                  <a:pt x="845428" y="833787"/>
                </a:lnTo>
                <a:lnTo>
                  <a:pt x="0" y="833787"/>
                </a:lnTo>
                <a:lnTo>
                  <a:pt x="0" y="0"/>
                </a:lnTo>
                <a:close/>
              </a:path>
            </a:pathLst>
          </a:custGeom>
          <a:blipFill>
            <a:blip r:embed="rId5"/>
            <a:stretch>
              <a:fillRect l="0" t="0" r="0" b="0"/>
            </a:stretch>
          </a:blipFill>
        </p:spPr>
      </p:sp>
      <p:sp>
        <p:nvSpPr>
          <p:cNvPr name="Freeform 10" id="10"/>
          <p:cNvSpPr/>
          <p:nvPr/>
        </p:nvSpPr>
        <p:spPr>
          <a:xfrm flipH="false" flipV="false" rot="0">
            <a:off x="3771691" y="7627362"/>
            <a:ext cx="578042" cy="926382"/>
          </a:xfrm>
          <a:custGeom>
            <a:avLst/>
            <a:gdLst/>
            <a:ahLst/>
            <a:cxnLst/>
            <a:rect r="r" b="b" t="t" l="l"/>
            <a:pathLst>
              <a:path h="926382" w="578042">
                <a:moveTo>
                  <a:pt x="0" y="0"/>
                </a:moveTo>
                <a:lnTo>
                  <a:pt x="578042" y="0"/>
                </a:lnTo>
                <a:lnTo>
                  <a:pt x="578042" y="926382"/>
                </a:lnTo>
                <a:lnTo>
                  <a:pt x="0" y="926382"/>
                </a:lnTo>
                <a:lnTo>
                  <a:pt x="0" y="0"/>
                </a:lnTo>
                <a:close/>
              </a:path>
            </a:pathLst>
          </a:custGeom>
          <a:blipFill>
            <a:blip r:embed="rId6"/>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3953809" y="1685119"/>
            <a:ext cx="10894849" cy="1238210"/>
          </a:xfrm>
          <a:prstGeom prst="rect">
            <a:avLst/>
          </a:prstGeom>
        </p:spPr>
        <p:txBody>
          <a:bodyPr anchor="t" rtlCol="false" tIns="0" lIns="0" bIns="0" rIns="0">
            <a:spAutoFit/>
          </a:bodyPr>
          <a:lstStyle/>
          <a:p>
            <a:pPr algn="ctr" marL="0" indent="0" lvl="0">
              <a:lnSpc>
                <a:spcPts val="8543"/>
              </a:lnSpc>
            </a:pPr>
            <a:r>
              <a:rPr lang="en-US" b="true" sz="7494">
                <a:solidFill>
                  <a:srgbClr val="005FC2"/>
                </a:solidFill>
                <a:latin typeface="Neo Tech Bold"/>
                <a:ea typeface="Neo Tech Bold"/>
                <a:cs typeface="Neo Tech Bold"/>
                <a:sym typeface="Neo Tech Bold"/>
              </a:rPr>
              <a:t>TECHNOLOGY STACK</a:t>
            </a:r>
          </a:p>
        </p:txBody>
      </p:sp>
      <p:sp>
        <p:nvSpPr>
          <p:cNvPr name="TextBox 3" id="3"/>
          <p:cNvSpPr txBox="true"/>
          <p:nvPr/>
        </p:nvSpPr>
        <p:spPr>
          <a:xfrm rot="0">
            <a:off x="7642726" y="5265039"/>
            <a:ext cx="4230126" cy="31931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Backend &amp; Database</a:t>
            </a:r>
          </a:p>
          <a:p>
            <a:pPr algn="l" marL="0" indent="0" lvl="0">
              <a:lnSpc>
                <a:spcPts val="3191"/>
              </a:lnSpc>
            </a:pPr>
            <a:r>
              <a:rPr lang="en-US" sz="2799">
                <a:solidFill>
                  <a:srgbClr val="005FC2"/>
                </a:solidFill>
                <a:latin typeface="Koho"/>
                <a:ea typeface="Koho"/>
                <a:cs typeface="Koho"/>
                <a:sym typeface="Koho"/>
              </a:rPr>
              <a:t>Spring Boot, Java 17, Spring Security, JPA, REST APIs. Database: PostgreSQL. Tools: Maven, GitHub, Postman. Authentication: JWT, BCrypt.</a:t>
            </a:r>
          </a:p>
        </p:txBody>
      </p:sp>
      <p:sp>
        <p:nvSpPr>
          <p:cNvPr name="Freeform 4" id="4"/>
          <p:cNvSpPr/>
          <p:nvPr/>
        </p:nvSpPr>
        <p:spPr>
          <a:xfrm flipH="true" flipV="false" rot="0">
            <a:off x="-3207360" y="-5086743"/>
            <a:ext cx="7161170" cy="10230243"/>
          </a:xfrm>
          <a:custGeom>
            <a:avLst/>
            <a:gdLst/>
            <a:ahLst/>
            <a:cxnLst/>
            <a:rect r="r" b="b" t="t" l="l"/>
            <a:pathLst>
              <a:path h="10230243" w="7161170">
                <a:moveTo>
                  <a:pt x="7161169" y="0"/>
                </a:moveTo>
                <a:lnTo>
                  <a:pt x="0" y="0"/>
                </a:lnTo>
                <a:lnTo>
                  <a:pt x="0" y="10230243"/>
                </a:lnTo>
                <a:lnTo>
                  <a:pt x="7161169" y="10230243"/>
                </a:lnTo>
                <a:lnTo>
                  <a:pt x="716116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true" flipV="false" rot="3885569">
            <a:off x="15560500" y="4143179"/>
            <a:ext cx="7161170" cy="10230243"/>
          </a:xfrm>
          <a:custGeom>
            <a:avLst/>
            <a:gdLst/>
            <a:ahLst/>
            <a:cxnLst/>
            <a:rect r="r" b="b" t="t" l="l"/>
            <a:pathLst>
              <a:path h="10230243" w="7161170">
                <a:moveTo>
                  <a:pt x="7161169" y="0"/>
                </a:moveTo>
                <a:lnTo>
                  <a:pt x="0" y="0"/>
                </a:lnTo>
                <a:lnTo>
                  <a:pt x="0" y="10230242"/>
                </a:lnTo>
                <a:lnTo>
                  <a:pt x="7161169" y="10230242"/>
                </a:lnTo>
                <a:lnTo>
                  <a:pt x="716116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12229407" y="3866959"/>
            <a:ext cx="4656668" cy="23930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Development Tools</a:t>
            </a:r>
          </a:p>
          <a:p>
            <a:pPr algn="l" marL="0" indent="0" lvl="0">
              <a:lnSpc>
                <a:spcPts val="3191"/>
              </a:lnSpc>
            </a:pPr>
            <a:r>
              <a:rPr lang="en-US" sz="2799">
                <a:solidFill>
                  <a:srgbClr val="005FC2"/>
                </a:solidFill>
                <a:latin typeface="Koho"/>
                <a:ea typeface="Koho"/>
                <a:cs typeface="Koho"/>
                <a:sym typeface="Koho"/>
              </a:rPr>
              <a:t>IntelliJ IDEA, VS Code for coding. Postman for API testing. GitHub for version control. Maven for build management.</a:t>
            </a:r>
          </a:p>
        </p:txBody>
      </p:sp>
      <p:sp>
        <p:nvSpPr>
          <p:cNvPr name="TextBox 7" id="7"/>
          <p:cNvSpPr txBox="true"/>
          <p:nvPr/>
        </p:nvSpPr>
        <p:spPr>
          <a:xfrm rot="0">
            <a:off x="2629502" y="3866959"/>
            <a:ext cx="4656668" cy="23930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Frontend Technologies</a:t>
            </a:r>
          </a:p>
          <a:p>
            <a:pPr algn="l" marL="0" indent="0" lvl="0">
              <a:lnSpc>
                <a:spcPts val="3191"/>
              </a:lnSpc>
            </a:pPr>
            <a:r>
              <a:rPr lang="en-US" sz="2799">
                <a:solidFill>
                  <a:srgbClr val="005FC2"/>
                </a:solidFill>
                <a:latin typeface="Koho"/>
                <a:ea typeface="Koho"/>
                <a:cs typeface="Koho"/>
                <a:sym typeface="Koho"/>
              </a:rPr>
              <a:t>Next.js and React.js for UI development. Tailwind CSS for styling. Recharts for data visualization and interactive dashboards.</a:t>
            </a:r>
          </a:p>
        </p:txBody>
      </p:sp>
      <p:sp>
        <p:nvSpPr>
          <p:cNvPr name="Freeform 8" id="8"/>
          <p:cNvSpPr/>
          <p:nvPr/>
        </p:nvSpPr>
        <p:spPr>
          <a:xfrm flipH="false" flipV="false" rot="0">
            <a:off x="3953809" y="7660195"/>
            <a:ext cx="679170" cy="679170"/>
          </a:xfrm>
          <a:custGeom>
            <a:avLst/>
            <a:gdLst/>
            <a:ahLst/>
            <a:cxnLst/>
            <a:rect r="r" b="b" t="t" l="l"/>
            <a:pathLst>
              <a:path h="679170" w="679170">
                <a:moveTo>
                  <a:pt x="0" y="0"/>
                </a:moveTo>
                <a:lnTo>
                  <a:pt x="679170" y="0"/>
                </a:lnTo>
                <a:lnTo>
                  <a:pt x="679170" y="679170"/>
                </a:lnTo>
                <a:lnTo>
                  <a:pt x="0" y="6791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4509074" y="7660195"/>
            <a:ext cx="679170" cy="679170"/>
          </a:xfrm>
          <a:custGeom>
            <a:avLst/>
            <a:gdLst/>
            <a:ahLst/>
            <a:cxnLst/>
            <a:rect r="r" b="b" t="t" l="l"/>
            <a:pathLst>
              <a:path h="679170" w="679170">
                <a:moveTo>
                  <a:pt x="0" y="0"/>
                </a:moveTo>
                <a:lnTo>
                  <a:pt x="679169" y="0"/>
                </a:lnTo>
                <a:lnTo>
                  <a:pt x="679169" y="679170"/>
                </a:lnTo>
                <a:lnTo>
                  <a:pt x="0" y="6791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9061649" y="4391102"/>
            <a:ext cx="679170" cy="679170"/>
          </a:xfrm>
          <a:custGeom>
            <a:avLst/>
            <a:gdLst/>
            <a:ahLst/>
            <a:cxnLst/>
            <a:rect r="r" b="b" t="t" l="l"/>
            <a:pathLst>
              <a:path h="679170" w="679170">
                <a:moveTo>
                  <a:pt x="0" y="0"/>
                </a:moveTo>
                <a:lnTo>
                  <a:pt x="679170" y="0"/>
                </a:lnTo>
                <a:lnTo>
                  <a:pt x="679170" y="679169"/>
                </a:lnTo>
                <a:lnTo>
                  <a:pt x="0" y="67916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3696575" y="1488837"/>
            <a:ext cx="10894849" cy="1238210"/>
          </a:xfrm>
          <a:prstGeom prst="rect">
            <a:avLst/>
          </a:prstGeom>
        </p:spPr>
        <p:txBody>
          <a:bodyPr anchor="t" rtlCol="false" tIns="0" lIns="0" bIns="0" rIns="0">
            <a:spAutoFit/>
          </a:bodyPr>
          <a:lstStyle/>
          <a:p>
            <a:pPr algn="ctr" marL="0" indent="0" lvl="0">
              <a:lnSpc>
                <a:spcPts val="8543"/>
              </a:lnSpc>
            </a:pPr>
            <a:r>
              <a:rPr lang="en-US" b="true" sz="7494">
                <a:solidFill>
                  <a:srgbClr val="005FC2"/>
                </a:solidFill>
                <a:latin typeface="Neo Tech Bold"/>
                <a:ea typeface="Neo Tech Bold"/>
                <a:cs typeface="Neo Tech Bold"/>
                <a:sym typeface="Neo Tech Bold"/>
              </a:rPr>
              <a:t>SYSTEM ARCHITECTURE</a:t>
            </a:r>
          </a:p>
        </p:txBody>
      </p:sp>
      <p:sp>
        <p:nvSpPr>
          <p:cNvPr name="TextBox 3" id="3"/>
          <p:cNvSpPr txBox="true"/>
          <p:nvPr/>
        </p:nvSpPr>
        <p:spPr>
          <a:xfrm rot="0">
            <a:off x="5403738" y="3309309"/>
            <a:ext cx="8868773" cy="1993011"/>
          </a:xfrm>
          <a:prstGeom prst="rect">
            <a:avLst/>
          </a:prstGeom>
        </p:spPr>
        <p:txBody>
          <a:bodyPr anchor="t" rtlCol="false" tIns="0" lIns="0" bIns="0" rIns="0">
            <a:spAutoFit/>
          </a:bodyPr>
          <a:lstStyle/>
          <a:p>
            <a:pPr algn="just" marL="0" indent="0" lvl="0">
              <a:lnSpc>
                <a:spcPts val="3191"/>
              </a:lnSpc>
            </a:pPr>
            <a:r>
              <a:rPr lang="en-US" sz="2799">
                <a:solidFill>
                  <a:srgbClr val="005FC2"/>
                </a:solidFill>
                <a:latin typeface="Koho"/>
                <a:ea typeface="Koho"/>
                <a:cs typeface="Koho"/>
                <a:sym typeface="Koho"/>
              </a:rPr>
              <a:t>CodePulse utilizes a robust 3-Tier Architecture model ensuring clean separation of concerns and scalability. The Presentation Layer is built with Next.js, delivering a responsive and dynamic user interface for seamless interaction.</a:t>
            </a:r>
          </a:p>
        </p:txBody>
      </p:sp>
      <p:sp>
        <p:nvSpPr>
          <p:cNvPr name="Freeform 4" id="4"/>
          <p:cNvSpPr/>
          <p:nvPr/>
        </p:nvSpPr>
        <p:spPr>
          <a:xfrm flipH="false" flipV="false" rot="-7720815">
            <a:off x="-5386022" y="5635688"/>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true" flipV="false" rot="-8367064">
            <a:off x="10341117" y="-1585888"/>
            <a:ext cx="13836366" cy="7245224"/>
          </a:xfrm>
          <a:custGeom>
            <a:avLst/>
            <a:gdLst/>
            <a:ahLst/>
            <a:cxnLst/>
            <a:rect r="r" b="b" t="t" l="l"/>
            <a:pathLst>
              <a:path h="7245224" w="13836366">
                <a:moveTo>
                  <a:pt x="13836366" y="0"/>
                </a:moveTo>
                <a:lnTo>
                  <a:pt x="0" y="0"/>
                </a:lnTo>
                <a:lnTo>
                  <a:pt x="0" y="7245225"/>
                </a:lnTo>
                <a:lnTo>
                  <a:pt x="13836366" y="7245225"/>
                </a:lnTo>
                <a:lnTo>
                  <a:pt x="13836366"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4015489" y="4017828"/>
            <a:ext cx="947448" cy="947448"/>
          </a:xfrm>
          <a:custGeom>
            <a:avLst/>
            <a:gdLst/>
            <a:ahLst/>
            <a:cxnLst/>
            <a:rect r="r" b="b" t="t" l="l"/>
            <a:pathLst>
              <a:path h="947448" w="947448">
                <a:moveTo>
                  <a:pt x="0" y="0"/>
                </a:moveTo>
                <a:lnTo>
                  <a:pt x="947448" y="0"/>
                </a:lnTo>
                <a:lnTo>
                  <a:pt x="947448" y="947448"/>
                </a:lnTo>
                <a:lnTo>
                  <a:pt x="0" y="94744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7" id="7"/>
          <p:cNvSpPr txBox="true"/>
          <p:nvPr/>
        </p:nvSpPr>
        <p:spPr>
          <a:xfrm rot="0">
            <a:off x="5476496" y="6407220"/>
            <a:ext cx="8868773" cy="1993011"/>
          </a:xfrm>
          <a:prstGeom prst="rect">
            <a:avLst/>
          </a:prstGeom>
        </p:spPr>
        <p:txBody>
          <a:bodyPr anchor="t" rtlCol="false" tIns="0" lIns="0" bIns="0" rIns="0">
            <a:spAutoFit/>
          </a:bodyPr>
          <a:lstStyle/>
          <a:p>
            <a:pPr algn="just" marL="0" indent="0" lvl="0">
              <a:lnSpc>
                <a:spcPts val="3191"/>
              </a:lnSpc>
            </a:pPr>
            <a:r>
              <a:rPr lang="en-US" sz="2799">
                <a:solidFill>
                  <a:srgbClr val="005FC2"/>
                </a:solidFill>
                <a:latin typeface="Koho"/>
                <a:ea typeface="Koho"/>
                <a:cs typeface="Koho"/>
                <a:sym typeface="Koho"/>
              </a:rPr>
              <a:t>The Application Layer leverages Spring Boot APIs to handle business logic, data processing, and analysis engines. The Data Layer uses PostgreSQL for reliable data persistence. JWT authentication ensures secure communication between all layers.</a:t>
            </a:r>
          </a:p>
        </p:txBody>
      </p:sp>
      <p:sp>
        <p:nvSpPr>
          <p:cNvPr name="Freeform 8" id="8"/>
          <p:cNvSpPr/>
          <p:nvPr/>
        </p:nvSpPr>
        <p:spPr>
          <a:xfrm flipH="false" flipV="false" rot="0">
            <a:off x="4088248" y="7115739"/>
            <a:ext cx="947448" cy="947448"/>
          </a:xfrm>
          <a:custGeom>
            <a:avLst/>
            <a:gdLst/>
            <a:ahLst/>
            <a:cxnLst/>
            <a:rect r="r" b="b" t="t" l="l"/>
            <a:pathLst>
              <a:path h="947448" w="947448">
                <a:moveTo>
                  <a:pt x="0" y="0"/>
                </a:moveTo>
                <a:lnTo>
                  <a:pt x="947448" y="0"/>
                </a:lnTo>
                <a:lnTo>
                  <a:pt x="947448" y="947448"/>
                </a:lnTo>
                <a:lnTo>
                  <a:pt x="0" y="94744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005FC2"/>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6918183" y="5888904"/>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3454424" y="1459858"/>
            <a:ext cx="3804876" cy="3547520"/>
            <a:chOff x="0" y="0"/>
            <a:chExt cx="812800" cy="757823"/>
          </a:xfrm>
        </p:grpSpPr>
        <p:sp>
          <p:nvSpPr>
            <p:cNvPr name="Freeform 4" id="4"/>
            <p:cNvSpPr/>
            <p:nvPr/>
          </p:nvSpPr>
          <p:spPr>
            <a:xfrm flipH="false" flipV="false" rot="0">
              <a:off x="0" y="0"/>
              <a:ext cx="812800" cy="757823"/>
            </a:xfrm>
            <a:custGeom>
              <a:avLst/>
              <a:gdLst/>
              <a:ahLst/>
              <a:cxnLst/>
              <a:rect r="r" b="b" t="t" l="l"/>
              <a:pathLst>
                <a:path h="757823" w="812800">
                  <a:moveTo>
                    <a:pt x="46799" y="0"/>
                  </a:moveTo>
                  <a:lnTo>
                    <a:pt x="766001" y="0"/>
                  </a:lnTo>
                  <a:cubicBezTo>
                    <a:pt x="791847" y="0"/>
                    <a:pt x="812800" y="20953"/>
                    <a:pt x="812800" y="46799"/>
                  </a:cubicBezTo>
                  <a:lnTo>
                    <a:pt x="812800" y="711024"/>
                  </a:lnTo>
                  <a:cubicBezTo>
                    <a:pt x="812800" y="736871"/>
                    <a:pt x="791847" y="757823"/>
                    <a:pt x="766001" y="757823"/>
                  </a:cubicBezTo>
                  <a:lnTo>
                    <a:pt x="46799" y="757823"/>
                  </a:lnTo>
                  <a:cubicBezTo>
                    <a:pt x="20953" y="757823"/>
                    <a:pt x="0" y="736871"/>
                    <a:pt x="0" y="711024"/>
                  </a:cubicBezTo>
                  <a:lnTo>
                    <a:pt x="0" y="46799"/>
                  </a:lnTo>
                  <a:cubicBezTo>
                    <a:pt x="0" y="20953"/>
                    <a:pt x="20953" y="0"/>
                    <a:pt x="46799" y="0"/>
                  </a:cubicBezTo>
                  <a:close/>
                </a:path>
              </a:pathLst>
            </a:custGeom>
            <a:blipFill>
              <a:blip r:embed="rId4"/>
              <a:stretch>
                <a:fillRect l="0" t="-3627" r="0" b="-3627"/>
              </a:stretch>
            </a:blipFill>
          </p:spPr>
        </p:sp>
      </p:grpSp>
      <p:grpSp>
        <p:nvGrpSpPr>
          <p:cNvPr name="Group 5" id="5"/>
          <p:cNvGrpSpPr/>
          <p:nvPr/>
        </p:nvGrpSpPr>
        <p:grpSpPr>
          <a:xfrm rot="0">
            <a:off x="13454424" y="5279623"/>
            <a:ext cx="3804876" cy="3547520"/>
            <a:chOff x="0" y="0"/>
            <a:chExt cx="812800" cy="757823"/>
          </a:xfrm>
        </p:grpSpPr>
        <p:sp>
          <p:nvSpPr>
            <p:cNvPr name="Freeform 6" id="6"/>
            <p:cNvSpPr/>
            <p:nvPr/>
          </p:nvSpPr>
          <p:spPr>
            <a:xfrm flipH="false" flipV="false" rot="0">
              <a:off x="0" y="0"/>
              <a:ext cx="812800" cy="757823"/>
            </a:xfrm>
            <a:custGeom>
              <a:avLst/>
              <a:gdLst/>
              <a:ahLst/>
              <a:cxnLst/>
              <a:rect r="r" b="b" t="t" l="l"/>
              <a:pathLst>
                <a:path h="757823" w="812800">
                  <a:moveTo>
                    <a:pt x="46799" y="0"/>
                  </a:moveTo>
                  <a:lnTo>
                    <a:pt x="766001" y="0"/>
                  </a:lnTo>
                  <a:cubicBezTo>
                    <a:pt x="791847" y="0"/>
                    <a:pt x="812800" y="20953"/>
                    <a:pt x="812800" y="46799"/>
                  </a:cubicBezTo>
                  <a:lnTo>
                    <a:pt x="812800" y="711024"/>
                  </a:lnTo>
                  <a:cubicBezTo>
                    <a:pt x="812800" y="736871"/>
                    <a:pt x="791847" y="757823"/>
                    <a:pt x="766001" y="757823"/>
                  </a:cubicBezTo>
                  <a:lnTo>
                    <a:pt x="46799" y="757823"/>
                  </a:lnTo>
                  <a:cubicBezTo>
                    <a:pt x="20953" y="757823"/>
                    <a:pt x="0" y="736871"/>
                    <a:pt x="0" y="711024"/>
                  </a:cubicBezTo>
                  <a:lnTo>
                    <a:pt x="0" y="46799"/>
                  </a:lnTo>
                  <a:cubicBezTo>
                    <a:pt x="0" y="20953"/>
                    <a:pt x="20953" y="0"/>
                    <a:pt x="46799" y="0"/>
                  </a:cubicBezTo>
                  <a:close/>
                </a:path>
              </a:pathLst>
            </a:custGeom>
            <a:blipFill>
              <a:blip r:embed="rId5"/>
              <a:stretch>
                <a:fillRect l="0" t="-3627" r="0" b="-3627"/>
              </a:stretch>
            </a:blipFill>
          </p:spPr>
        </p:sp>
      </p:grpSp>
      <p:sp>
        <p:nvSpPr>
          <p:cNvPr name="Freeform 7" id="7"/>
          <p:cNvSpPr/>
          <p:nvPr/>
        </p:nvSpPr>
        <p:spPr>
          <a:xfrm flipH="false" flipV="false" rot="0">
            <a:off x="1829272" y="3519317"/>
            <a:ext cx="679170" cy="679170"/>
          </a:xfrm>
          <a:custGeom>
            <a:avLst/>
            <a:gdLst/>
            <a:ahLst/>
            <a:cxnLst/>
            <a:rect r="r" b="b" t="t" l="l"/>
            <a:pathLst>
              <a:path h="679170" w="679170">
                <a:moveTo>
                  <a:pt x="0" y="0"/>
                </a:moveTo>
                <a:lnTo>
                  <a:pt x="679170" y="0"/>
                </a:lnTo>
                <a:lnTo>
                  <a:pt x="679170" y="679170"/>
                </a:lnTo>
                <a:lnTo>
                  <a:pt x="0" y="6791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1829272" y="5478561"/>
            <a:ext cx="679170" cy="679170"/>
          </a:xfrm>
          <a:custGeom>
            <a:avLst/>
            <a:gdLst/>
            <a:ahLst/>
            <a:cxnLst/>
            <a:rect r="r" b="b" t="t" l="l"/>
            <a:pathLst>
              <a:path h="679170" w="679170">
                <a:moveTo>
                  <a:pt x="0" y="0"/>
                </a:moveTo>
                <a:lnTo>
                  <a:pt x="679170" y="0"/>
                </a:lnTo>
                <a:lnTo>
                  <a:pt x="679170" y="679169"/>
                </a:lnTo>
                <a:lnTo>
                  <a:pt x="0" y="67916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829272" y="7433472"/>
            <a:ext cx="679170" cy="679170"/>
          </a:xfrm>
          <a:custGeom>
            <a:avLst/>
            <a:gdLst/>
            <a:ahLst/>
            <a:cxnLst/>
            <a:rect r="r" b="b" t="t" l="l"/>
            <a:pathLst>
              <a:path h="679170" w="679170">
                <a:moveTo>
                  <a:pt x="0" y="0"/>
                </a:moveTo>
                <a:lnTo>
                  <a:pt x="679170" y="0"/>
                </a:lnTo>
                <a:lnTo>
                  <a:pt x="679170" y="679169"/>
                </a:lnTo>
                <a:lnTo>
                  <a:pt x="0" y="67916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1829272" y="1355083"/>
            <a:ext cx="10894849" cy="1238210"/>
          </a:xfrm>
          <a:prstGeom prst="rect">
            <a:avLst/>
          </a:prstGeom>
        </p:spPr>
        <p:txBody>
          <a:bodyPr anchor="t" rtlCol="false" tIns="0" lIns="0" bIns="0" rIns="0">
            <a:spAutoFit/>
          </a:bodyPr>
          <a:lstStyle/>
          <a:p>
            <a:pPr algn="l" marL="0" indent="0" lvl="0">
              <a:lnSpc>
                <a:spcPts val="8543"/>
              </a:lnSpc>
            </a:pPr>
            <a:r>
              <a:rPr lang="en-US" b="true" sz="7494">
                <a:solidFill>
                  <a:srgbClr val="FFFFFF"/>
                </a:solidFill>
                <a:latin typeface="Neo Tech Bold"/>
                <a:ea typeface="Neo Tech Bold"/>
                <a:cs typeface="Neo Tech Bold"/>
                <a:sym typeface="Neo Tech Bold"/>
              </a:rPr>
              <a:t>DATA MODEL</a:t>
            </a:r>
          </a:p>
        </p:txBody>
      </p:sp>
      <p:sp>
        <p:nvSpPr>
          <p:cNvPr name="TextBox 11" id="11"/>
          <p:cNvSpPr txBox="true"/>
          <p:nvPr/>
        </p:nvSpPr>
        <p:spPr>
          <a:xfrm rot="0">
            <a:off x="2895628" y="3076709"/>
            <a:ext cx="10148400" cy="1592946"/>
          </a:xfrm>
          <a:prstGeom prst="rect">
            <a:avLst/>
          </a:prstGeom>
        </p:spPr>
        <p:txBody>
          <a:bodyPr anchor="t" rtlCol="false" tIns="0" lIns="0" bIns="0" rIns="0">
            <a:spAutoFit/>
          </a:bodyPr>
          <a:lstStyle/>
          <a:p>
            <a:pPr algn="l" marL="0" indent="0" lvl="0">
              <a:lnSpc>
                <a:spcPts val="3189"/>
              </a:lnSpc>
            </a:pPr>
            <a:r>
              <a:rPr lang="en-US" sz="2798">
                <a:solidFill>
                  <a:srgbClr val="FFFFFF"/>
                </a:solidFill>
                <a:latin typeface="Koho"/>
                <a:ea typeface="Koho"/>
                <a:cs typeface="Koho"/>
                <a:sym typeface="Koho"/>
              </a:rPr>
              <a:t>Core Entities: User, Submission, Problem, Topic, and Recommendation form the foundation of CodePulse's data architecture, enabling comprehensive tracking of coding performance and personalized insights.</a:t>
            </a:r>
          </a:p>
        </p:txBody>
      </p:sp>
      <p:sp>
        <p:nvSpPr>
          <p:cNvPr name="TextBox 12" id="12"/>
          <p:cNvSpPr txBox="true"/>
          <p:nvPr/>
        </p:nvSpPr>
        <p:spPr>
          <a:xfrm rot="0">
            <a:off x="2895628" y="5035952"/>
            <a:ext cx="10148400" cy="1192896"/>
          </a:xfrm>
          <a:prstGeom prst="rect">
            <a:avLst/>
          </a:prstGeom>
        </p:spPr>
        <p:txBody>
          <a:bodyPr anchor="t" rtlCol="false" tIns="0" lIns="0" bIns="0" rIns="0">
            <a:spAutoFit/>
          </a:bodyPr>
          <a:lstStyle/>
          <a:p>
            <a:pPr algn="l" marL="0" indent="0" lvl="0">
              <a:lnSpc>
                <a:spcPts val="3189"/>
              </a:lnSpc>
            </a:pPr>
            <a:r>
              <a:rPr lang="en-US" sz="2798">
                <a:solidFill>
                  <a:srgbClr val="FFFFFF"/>
                </a:solidFill>
                <a:latin typeface="Koho"/>
                <a:ea typeface="Koho"/>
                <a:cs typeface="Koho"/>
                <a:sym typeface="Koho"/>
              </a:rPr>
              <a:t>User-Submission Relationship: Each User can have many Submissions, allowing the system to track all coding attempts and analyze patterns over time for weakness detection.</a:t>
            </a:r>
          </a:p>
        </p:txBody>
      </p:sp>
      <p:sp>
        <p:nvSpPr>
          <p:cNvPr name="TextBox 13" id="13"/>
          <p:cNvSpPr txBox="true"/>
          <p:nvPr/>
        </p:nvSpPr>
        <p:spPr>
          <a:xfrm rot="0">
            <a:off x="2895628" y="6990863"/>
            <a:ext cx="10148400" cy="1192896"/>
          </a:xfrm>
          <a:prstGeom prst="rect">
            <a:avLst/>
          </a:prstGeom>
        </p:spPr>
        <p:txBody>
          <a:bodyPr anchor="t" rtlCol="false" tIns="0" lIns="0" bIns="0" rIns="0">
            <a:spAutoFit/>
          </a:bodyPr>
          <a:lstStyle/>
          <a:p>
            <a:pPr algn="l" marL="0" indent="0" lvl="0">
              <a:lnSpc>
                <a:spcPts val="3189"/>
              </a:lnSpc>
            </a:pPr>
            <a:r>
              <a:rPr lang="en-US" sz="2798">
                <a:solidFill>
                  <a:srgbClr val="FFFFFF"/>
                </a:solidFill>
                <a:latin typeface="Koho"/>
                <a:ea typeface="Koho"/>
                <a:cs typeface="Koho"/>
                <a:sym typeface="Koho"/>
              </a:rPr>
              <a:t>Problem-Topic Mapping: Each Submission links to one Problem, while each Problem can be associated with many Topics, enabling granular skill classification and targeted recommendations.</a:t>
            </a:r>
          </a:p>
        </p:txBody>
      </p:sp>
      <p:sp>
        <p:nvSpPr>
          <p:cNvPr name="Freeform 14" id="14"/>
          <p:cNvSpPr/>
          <p:nvPr/>
        </p:nvSpPr>
        <p:spPr>
          <a:xfrm flipH="false" flipV="false" rot="0">
            <a:off x="6125845" y="-4806690"/>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341974" y="4178708"/>
            <a:ext cx="8975409" cy="15929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Month 1–2: Research &amp; Foundation</a:t>
            </a:r>
          </a:p>
          <a:p>
            <a:pPr algn="l" marL="0" indent="0" lvl="0">
              <a:lnSpc>
                <a:spcPts val="3191"/>
              </a:lnSpc>
            </a:pPr>
            <a:r>
              <a:rPr lang="en-US" sz="2799">
                <a:solidFill>
                  <a:srgbClr val="005FC2"/>
                </a:solidFill>
                <a:latin typeface="Koho"/>
                <a:ea typeface="Koho"/>
                <a:cs typeface="Koho"/>
                <a:sym typeface="Koho"/>
              </a:rPr>
              <a:t>Conduct research, prepare SRS documentation, integrate coding platform APIs, and design the PostgreSQL database schema.</a:t>
            </a:r>
          </a:p>
        </p:txBody>
      </p:sp>
      <p:sp>
        <p:nvSpPr>
          <p:cNvPr name="Freeform 3" id="3"/>
          <p:cNvSpPr/>
          <p:nvPr/>
        </p:nvSpPr>
        <p:spPr>
          <a:xfrm flipH="true" flipV="false" rot="-10149532">
            <a:off x="-3580585" y="4143179"/>
            <a:ext cx="7161170" cy="10230243"/>
          </a:xfrm>
          <a:custGeom>
            <a:avLst/>
            <a:gdLst/>
            <a:ahLst/>
            <a:cxnLst/>
            <a:rect r="r" b="b" t="t" l="l"/>
            <a:pathLst>
              <a:path h="10230243" w="7161170">
                <a:moveTo>
                  <a:pt x="7161170" y="0"/>
                </a:moveTo>
                <a:lnTo>
                  <a:pt x="0" y="0"/>
                </a:lnTo>
                <a:lnTo>
                  <a:pt x="0" y="10230242"/>
                </a:lnTo>
                <a:lnTo>
                  <a:pt x="7161170" y="10230242"/>
                </a:lnTo>
                <a:lnTo>
                  <a:pt x="716117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false" rot="129211">
            <a:off x="14707415" y="-4280324"/>
            <a:ext cx="7161170" cy="10230243"/>
          </a:xfrm>
          <a:custGeom>
            <a:avLst/>
            <a:gdLst/>
            <a:ahLst/>
            <a:cxnLst/>
            <a:rect r="r" b="b" t="t" l="l"/>
            <a:pathLst>
              <a:path h="10230243" w="7161170">
                <a:moveTo>
                  <a:pt x="7161170" y="0"/>
                </a:moveTo>
                <a:lnTo>
                  <a:pt x="0" y="0"/>
                </a:lnTo>
                <a:lnTo>
                  <a:pt x="0" y="10230242"/>
                </a:lnTo>
                <a:lnTo>
                  <a:pt x="7161170" y="10230242"/>
                </a:lnTo>
                <a:lnTo>
                  <a:pt x="716117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936060" y="2708003"/>
            <a:ext cx="4780054" cy="6310303"/>
          </a:xfrm>
          <a:custGeom>
            <a:avLst/>
            <a:gdLst/>
            <a:ahLst/>
            <a:cxnLst/>
            <a:rect r="r" b="b" t="t" l="l"/>
            <a:pathLst>
              <a:path h="6310303" w="4780054">
                <a:moveTo>
                  <a:pt x="0" y="0"/>
                </a:moveTo>
                <a:lnTo>
                  <a:pt x="4780054" y="0"/>
                </a:lnTo>
                <a:lnTo>
                  <a:pt x="4780054" y="6310302"/>
                </a:lnTo>
                <a:lnTo>
                  <a:pt x="0" y="6310302"/>
                </a:lnTo>
                <a:lnTo>
                  <a:pt x="0" y="0"/>
                </a:lnTo>
                <a:close/>
              </a:path>
            </a:pathLst>
          </a:custGeom>
          <a:blipFill>
            <a:blip r:embed="rId4"/>
            <a:stretch>
              <a:fillRect l="0" t="0" r="0" b="0"/>
            </a:stretch>
          </a:blipFill>
        </p:spPr>
      </p:sp>
      <p:sp>
        <p:nvSpPr>
          <p:cNvPr name="TextBox 6" id="6"/>
          <p:cNvSpPr txBox="true"/>
          <p:nvPr/>
        </p:nvSpPr>
        <p:spPr>
          <a:xfrm rot="0">
            <a:off x="3622883" y="1246437"/>
            <a:ext cx="10894849" cy="1238250"/>
          </a:xfrm>
          <a:prstGeom prst="rect">
            <a:avLst/>
          </a:prstGeom>
        </p:spPr>
        <p:txBody>
          <a:bodyPr anchor="t" rtlCol="false" tIns="0" lIns="0" bIns="0" rIns="0">
            <a:spAutoFit/>
          </a:bodyPr>
          <a:lstStyle/>
          <a:p>
            <a:pPr algn="ctr" marL="0" indent="0" lvl="0">
              <a:lnSpc>
                <a:spcPts val="8549"/>
              </a:lnSpc>
            </a:pPr>
            <a:r>
              <a:rPr lang="en-US" b="true" sz="7500">
                <a:solidFill>
                  <a:srgbClr val="005FC2"/>
                </a:solidFill>
                <a:latin typeface="Neo Tech Bold"/>
                <a:ea typeface="Neo Tech Bold"/>
                <a:cs typeface="Neo Tech Bold"/>
                <a:sym typeface="Neo Tech Bold"/>
              </a:rPr>
              <a:t>PROJECT TIMELINE</a:t>
            </a:r>
          </a:p>
        </p:txBody>
      </p:sp>
      <p:sp>
        <p:nvSpPr>
          <p:cNvPr name="TextBox 7" id="7"/>
          <p:cNvSpPr txBox="true"/>
          <p:nvPr/>
        </p:nvSpPr>
        <p:spPr>
          <a:xfrm rot="0">
            <a:off x="7341974" y="6578754"/>
            <a:ext cx="8975409" cy="1592961"/>
          </a:xfrm>
          <a:prstGeom prst="rect">
            <a:avLst/>
          </a:prstGeom>
        </p:spPr>
        <p:txBody>
          <a:bodyPr anchor="t" rtlCol="false" tIns="0" lIns="0" bIns="0" rIns="0">
            <a:spAutoFit/>
          </a:bodyPr>
          <a:lstStyle/>
          <a:p>
            <a:pPr algn="l" marL="0" indent="0" lvl="0">
              <a:lnSpc>
                <a:spcPts val="3191"/>
              </a:lnSpc>
            </a:pPr>
            <a:r>
              <a:rPr lang="en-US" sz="2799">
                <a:solidFill>
                  <a:srgbClr val="005FC2"/>
                </a:solidFill>
                <a:latin typeface="Koho"/>
                <a:ea typeface="Koho"/>
                <a:cs typeface="Koho"/>
                <a:sym typeface="Koho"/>
              </a:rPr>
              <a:t>Month 3–4: Core Development</a:t>
            </a:r>
          </a:p>
          <a:p>
            <a:pPr algn="l" marL="0" indent="0" lvl="0">
              <a:lnSpc>
                <a:spcPts val="3191"/>
              </a:lnSpc>
            </a:pPr>
            <a:r>
              <a:rPr lang="en-US" sz="2799">
                <a:solidFill>
                  <a:srgbClr val="005FC2"/>
                </a:solidFill>
                <a:latin typeface="Koho"/>
                <a:ea typeface="Koho"/>
                <a:cs typeface="Koho"/>
                <a:sym typeface="Koho"/>
              </a:rPr>
              <a:t>Build Spring Boot backend, develop performance analysis engine, and implement recommendation logic with topic classification.</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005FC2"/>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7221231" y="1520888"/>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5400000">
            <a:off x="12384810" y="2397377"/>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3489471" y="4362023"/>
            <a:ext cx="968343" cy="968343"/>
          </a:xfrm>
          <a:custGeom>
            <a:avLst/>
            <a:gdLst/>
            <a:ahLst/>
            <a:cxnLst/>
            <a:rect r="r" b="b" t="t" l="l"/>
            <a:pathLst>
              <a:path h="968343" w="968343">
                <a:moveTo>
                  <a:pt x="0" y="0"/>
                </a:moveTo>
                <a:lnTo>
                  <a:pt x="968343" y="0"/>
                </a:lnTo>
                <a:lnTo>
                  <a:pt x="968343" y="968343"/>
                </a:lnTo>
                <a:lnTo>
                  <a:pt x="0" y="968343"/>
                </a:lnTo>
                <a:lnTo>
                  <a:pt x="0" y="0"/>
                </a:lnTo>
                <a:close/>
              </a:path>
            </a:pathLst>
          </a:custGeom>
          <a:blipFill>
            <a:blip r:embed="rId4"/>
            <a:stretch>
              <a:fillRect l="0" t="0" r="0" b="0"/>
            </a:stretch>
          </a:blipFill>
        </p:spPr>
      </p:sp>
      <p:sp>
        <p:nvSpPr>
          <p:cNvPr name="TextBox 5" id="5"/>
          <p:cNvSpPr txBox="true"/>
          <p:nvPr/>
        </p:nvSpPr>
        <p:spPr>
          <a:xfrm rot="0">
            <a:off x="4336389" y="1587629"/>
            <a:ext cx="9615222" cy="1238250"/>
          </a:xfrm>
          <a:prstGeom prst="rect">
            <a:avLst/>
          </a:prstGeom>
        </p:spPr>
        <p:txBody>
          <a:bodyPr anchor="t" rtlCol="false" tIns="0" lIns="0" bIns="0" rIns="0">
            <a:spAutoFit/>
          </a:bodyPr>
          <a:lstStyle/>
          <a:p>
            <a:pPr algn="ctr" marL="0" indent="0" lvl="0">
              <a:lnSpc>
                <a:spcPts val="8549"/>
              </a:lnSpc>
            </a:pPr>
            <a:r>
              <a:rPr lang="en-US" b="true" sz="7500">
                <a:solidFill>
                  <a:srgbClr val="FFFFFF"/>
                </a:solidFill>
                <a:latin typeface="Neo Tech Bold"/>
                <a:ea typeface="Neo Tech Bold"/>
                <a:cs typeface="Neo Tech Bold"/>
                <a:sym typeface="Neo Tech Bold"/>
              </a:rPr>
              <a:t>TOOLS</a:t>
            </a:r>
          </a:p>
        </p:txBody>
      </p:sp>
      <p:sp>
        <p:nvSpPr>
          <p:cNvPr name="TextBox 6" id="6"/>
          <p:cNvSpPr txBox="true"/>
          <p:nvPr/>
        </p:nvSpPr>
        <p:spPr>
          <a:xfrm rot="0">
            <a:off x="4813846" y="4315722"/>
            <a:ext cx="10580784" cy="79286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Design: Figma for UI/UX prototyping and mockups, draw.io for system diagrams, flowcharts, and architecture visualization.</a:t>
            </a:r>
          </a:p>
        </p:txBody>
      </p:sp>
      <p:sp>
        <p:nvSpPr>
          <p:cNvPr name="TextBox 7" id="7"/>
          <p:cNvSpPr txBox="true"/>
          <p:nvPr/>
        </p:nvSpPr>
        <p:spPr>
          <a:xfrm rot="0">
            <a:off x="4813846" y="5856350"/>
            <a:ext cx="10580784" cy="11929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Development: IntelliJ IDEA for Java/Spring Boot backend development, VS Code for Next.js frontend development and general coding tasks.</a:t>
            </a:r>
          </a:p>
        </p:txBody>
      </p:sp>
      <p:sp>
        <p:nvSpPr>
          <p:cNvPr name="TextBox 8" id="8"/>
          <p:cNvSpPr txBox="true"/>
          <p:nvPr/>
        </p:nvSpPr>
        <p:spPr>
          <a:xfrm rot="0">
            <a:off x="4813846" y="7401685"/>
            <a:ext cx="10580784" cy="11929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Testing &amp; Version Control: Postman for API testing and documentation, GitHub for version control and collaboration, PostgreSQL for database management.</a:t>
            </a:r>
          </a:p>
        </p:txBody>
      </p:sp>
      <p:sp>
        <p:nvSpPr>
          <p:cNvPr name="Freeform 9" id="9"/>
          <p:cNvSpPr/>
          <p:nvPr/>
        </p:nvSpPr>
        <p:spPr>
          <a:xfrm flipH="false" flipV="false" rot="0">
            <a:off x="3564796" y="5982105"/>
            <a:ext cx="779968" cy="779968"/>
          </a:xfrm>
          <a:custGeom>
            <a:avLst/>
            <a:gdLst/>
            <a:ahLst/>
            <a:cxnLst/>
            <a:rect r="r" b="b" t="t" l="l"/>
            <a:pathLst>
              <a:path h="779968" w="779968">
                <a:moveTo>
                  <a:pt x="0" y="0"/>
                </a:moveTo>
                <a:lnTo>
                  <a:pt x="779968" y="0"/>
                </a:lnTo>
                <a:lnTo>
                  <a:pt x="779968" y="779968"/>
                </a:lnTo>
                <a:lnTo>
                  <a:pt x="0" y="779968"/>
                </a:lnTo>
                <a:lnTo>
                  <a:pt x="0" y="0"/>
                </a:lnTo>
                <a:close/>
              </a:path>
            </a:pathLst>
          </a:custGeom>
          <a:blipFill>
            <a:blip r:embed="rId5"/>
            <a:stretch>
              <a:fillRect l="0" t="0" r="0" b="0"/>
            </a:stretch>
          </a:blipFill>
        </p:spPr>
      </p:sp>
      <p:sp>
        <p:nvSpPr>
          <p:cNvPr name="Freeform 10" id="10"/>
          <p:cNvSpPr/>
          <p:nvPr/>
        </p:nvSpPr>
        <p:spPr>
          <a:xfrm flipH="false" flipV="false" rot="0">
            <a:off x="3584646" y="7468430"/>
            <a:ext cx="837057" cy="1118014"/>
          </a:xfrm>
          <a:custGeom>
            <a:avLst/>
            <a:gdLst/>
            <a:ahLst/>
            <a:cxnLst/>
            <a:rect r="r" b="b" t="t" l="l"/>
            <a:pathLst>
              <a:path h="1118014" w="837057">
                <a:moveTo>
                  <a:pt x="0" y="0"/>
                </a:moveTo>
                <a:lnTo>
                  <a:pt x="837057" y="0"/>
                </a:lnTo>
                <a:lnTo>
                  <a:pt x="837057" y="1118014"/>
                </a:lnTo>
                <a:lnTo>
                  <a:pt x="0" y="1118014"/>
                </a:lnTo>
                <a:lnTo>
                  <a:pt x="0" y="0"/>
                </a:lnTo>
                <a:close/>
              </a:path>
            </a:pathLst>
          </a:custGeom>
          <a:blipFill>
            <a:blip r:embed="rId6"/>
            <a:stretch>
              <a:fillRect l="0" t="0" r="0" b="0"/>
            </a:stretch>
          </a:blipFill>
        </p:spPr>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3953809" y="1685119"/>
            <a:ext cx="10894849" cy="1238210"/>
          </a:xfrm>
          <a:prstGeom prst="rect">
            <a:avLst/>
          </a:prstGeom>
        </p:spPr>
        <p:txBody>
          <a:bodyPr anchor="t" rtlCol="false" tIns="0" lIns="0" bIns="0" rIns="0">
            <a:spAutoFit/>
          </a:bodyPr>
          <a:lstStyle/>
          <a:p>
            <a:pPr algn="ctr" marL="0" indent="0" lvl="0">
              <a:lnSpc>
                <a:spcPts val="8543"/>
              </a:lnSpc>
            </a:pPr>
            <a:r>
              <a:rPr lang="en-US" b="true" sz="7494">
                <a:solidFill>
                  <a:srgbClr val="005FC2"/>
                </a:solidFill>
                <a:latin typeface="Neo Tech Bold"/>
                <a:ea typeface="Neo Tech Bold"/>
                <a:cs typeface="Neo Tech Bold"/>
                <a:sym typeface="Neo Tech Bold"/>
              </a:rPr>
              <a:t>EXPECTED OUTCOMES</a:t>
            </a:r>
          </a:p>
        </p:txBody>
      </p:sp>
      <p:sp>
        <p:nvSpPr>
          <p:cNvPr name="TextBox 3" id="3"/>
          <p:cNvSpPr txBox="true"/>
          <p:nvPr/>
        </p:nvSpPr>
        <p:spPr>
          <a:xfrm rot="0">
            <a:off x="7642726" y="5265039"/>
            <a:ext cx="4230126" cy="3593196"/>
          </a:xfrm>
          <a:prstGeom prst="rect">
            <a:avLst/>
          </a:prstGeom>
        </p:spPr>
        <p:txBody>
          <a:bodyPr anchor="t" rtlCol="false" tIns="0" lIns="0" bIns="0" rIns="0">
            <a:spAutoFit/>
          </a:bodyPr>
          <a:lstStyle/>
          <a:p>
            <a:pPr algn="l" marL="0" indent="0" lvl="0">
              <a:lnSpc>
                <a:spcPts val="3189"/>
              </a:lnSpc>
            </a:pPr>
            <a:r>
              <a:rPr lang="en-US" sz="2798">
                <a:solidFill>
                  <a:srgbClr val="005FC2"/>
                </a:solidFill>
                <a:latin typeface="Koho"/>
                <a:ea typeface="Koho"/>
                <a:cs typeface="Koho"/>
                <a:sym typeface="Koho"/>
              </a:rPr>
              <a:t>Academic Outcomes</a:t>
            </a:r>
          </a:p>
          <a:p>
            <a:pPr algn="l" marL="0" indent="0" lvl="0">
              <a:lnSpc>
                <a:spcPts val="3189"/>
              </a:lnSpc>
            </a:pPr>
            <a:r>
              <a:rPr lang="en-US" sz="2798">
                <a:solidFill>
                  <a:srgbClr val="005FC2"/>
                </a:solidFill>
                <a:latin typeface="Koho"/>
                <a:ea typeface="Koho"/>
                <a:cs typeface="Koho"/>
                <a:sym typeface="Koho"/>
              </a:rPr>
              <a:t>Comprehensive research report documenting methodology and findings. Performance evaluation metrics and benchmarks. Publishable project demonstrating full-stack and analytical capabilities.</a:t>
            </a:r>
          </a:p>
        </p:txBody>
      </p:sp>
      <p:sp>
        <p:nvSpPr>
          <p:cNvPr name="Freeform 4" id="4"/>
          <p:cNvSpPr/>
          <p:nvPr/>
        </p:nvSpPr>
        <p:spPr>
          <a:xfrm flipH="true" flipV="false" rot="0">
            <a:off x="-3207360" y="-5086743"/>
            <a:ext cx="7161170" cy="10230243"/>
          </a:xfrm>
          <a:custGeom>
            <a:avLst/>
            <a:gdLst/>
            <a:ahLst/>
            <a:cxnLst/>
            <a:rect r="r" b="b" t="t" l="l"/>
            <a:pathLst>
              <a:path h="10230243" w="7161170">
                <a:moveTo>
                  <a:pt x="7161169" y="0"/>
                </a:moveTo>
                <a:lnTo>
                  <a:pt x="0" y="0"/>
                </a:lnTo>
                <a:lnTo>
                  <a:pt x="0" y="10230243"/>
                </a:lnTo>
                <a:lnTo>
                  <a:pt x="7161169" y="10230243"/>
                </a:lnTo>
                <a:lnTo>
                  <a:pt x="716116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true" flipV="false" rot="3885569">
            <a:off x="15560500" y="4143179"/>
            <a:ext cx="7161170" cy="10230243"/>
          </a:xfrm>
          <a:custGeom>
            <a:avLst/>
            <a:gdLst/>
            <a:ahLst/>
            <a:cxnLst/>
            <a:rect r="r" b="b" t="t" l="l"/>
            <a:pathLst>
              <a:path h="10230243" w="7161170">
                <a:moveTo>
                  <a:pt x="7161169" y="0"/>
                </a:moveTo>
                <a:lnTo>
                  <a:pt x="0" y="0"/>
                </a:lnTo>
                <a:lnTo>
                  <a:pt x="0" y="10230242"/>
                </a:lnTo>
                <a:lnTo>
                  <a:pt x="7161169" y="10230242"/>
                </a:lnTo>
                <a:lnTo>
                  <a:pt x="716116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12229407" y="3866959"/>
            <a:ext cx="4656668" cy="2393046"/>
          </a:xfrm>
          <a:prstGeom prst="rect">
            <a:avLst/>
          </a:prstGeom>
        </p:spPr>
        <p:txBody>
          <a:bodyPr anchor="t" rtlCol="false" tIns="0" lIns="0" bIns="0" rIns="0">
            <a:spAutoFit/>
          </a:bodyPr>
          <a:lstStyle/>
          <a:p>
            <a:pPr algn="l" marL="0" indent="0" lvl="0">
              <a:lnSpc>
                <a:spcPts val="3189"/>
              </a:lnSpc>
            </a:pPr>
            <a:r>
              <a:rPr lang="en-US" sz="2798">
                <a:solidFill>
                  <a:srgbClr val="005FC2"/>
                </a:solidFill>
                <a:latin typeface="Koho"/>
                <a:ea typeface="Koho"/>
                <a:cs typeface="Koho"/>
                <a:sym typeface="Koho"/>
              </a:rPr>
              <a:t>Visualization Dashboard</a:t>
            </a:r>
          </a:p>
          <a:p>
            <a:pPr algn="l" marL="0" indent="0" lvl="0">
              <a:lnSpc>
                <a:spcPts val="3189"/>
              </a:lnSpc>
            </a:pPr>
            <a:r>
              <a:rPr lang="en-US" sz="2798">
                <a:solidFill>
                  <a:srgbClr val="005FC2"/>
                </a:solidFill>
                <a:latin typeface="Koho"/>
                <a:ea typeface="Koho"/>
                <a:cs typeface="Koho"/>
                <a:sym typeface="Koho"/>
              </a:rPr>
              <a:t>Interactive charts and graphs for performance trends. Topic-wise progress tracking displays. User-friendly interface for data exploration.</a:t>
            </a:r>
          </a:p>
        </p:txBody>
      </p:sp>
      <p:sp>
        <p:nvSpPr>
          <p:cNvPr name="TextBox 7" id="7"/>
          <p:cNvSpPr txBox="true"/>
          <p:nvPr/>
        </p:nvSpPr>
        <p:spPr>
          <a:xfrm rot="0">
            <a:off x="2629502" y="3866959"/>
            <a:ext cx="4656668" cy="3593196"/>
          </a:xfrm>
          <a:prstGeom prst="rect">
            <a:avLst/>
          </a:prstGeom>
        </p:spPr>
        <p:txBody>
          <a:bodyPr anchor="t" rtlCol="false" tIns="0" lIns="0" bIns="0" rIns="0">
            <a:spAutoFit/>
          </a:bodyPr>
          <a:lstStyle/>
          <a:p>
            <a:pPr algn="l" marL="0" indent="0" lvl="0">
              <a:lnSpc>
                <a:spcPts val="3189"/>
              </a:lnSpc>
            </a:pPr>
            <a:r>
              <a:rPr lang="en-US" sz="2798">
                <a:solidFill>
                  <a:srgbClr val="005FC2"/>
                </a:solidFill>
                <a:latin typeface="Koho"/>
                <a:ea typeface="Koho"/>
                <a:cs typeface="Koho"/>
                <a:sym typeface="Koho"/>
              </a:rPr>
              <a:t>Technical Outcomes</a:t>
            </a:r>
          </a:p>
          <a:p>
            <a:pPr algn="l" marL="0" indent="0" lvl="0">
              <a:lnSpc>
                <a:spcPts val="3189"/>
              </a:lnSpc>
            </a:pPr>
            <a:r>
              <a:rPr lang="en-US" sz="2798">
                <a:solidFill>
                  <a:srgbClr val="005FC2"/>
                </a:solidFill>
                <a:latin typeface="Koho"/>
                <a:ea typeface="Koho"/>
                <a:cs typeface="Koho"/>
                <a:sym typeface="Koho"/>
              </a:rPr>
              <a:t>Fully functional analytics system for coding performance. Intelligent recommendation engine for personalized problem suggestions. Secure authentication and user management.</a:t>
            </a:r>
          </a:p>
        </p:txBody>
      </p:sp>
      <p:sp>
        <p:nvSpPr>
          <p:cNvPr name="Freeform 8" id="8"/>
          <p:cNvSpPr/>
          <p:nvPr/>
        </p:nvSpPr>
        <p:spPr>
          <a:xfrm flipH="false" flipV="false" rot="0">
            <a:off x="3953809" y="7660195"/>
            <a:ext cx="679170" cy="679170"/>
          </a:xfrm>
          <a:custGeom>
            <a:avLst/>
            <a:gdLst/>
            <a:ahLst/>
            <a:cxnLst/>
            <a:rect r="r" b="b" t="t" l="l"/>
            <a:pathLst>
              <a:path h="679170" w="679170">
                <a:moveTo>
                  <a:pt x="0" y="0"/>
                </a:moveTo>
                <a:lnTo>
                  <a:pt x="679170" y="0"/>
                </a:lnTo>
                <a:lnTo>
                  <a:pt x="679170" y="679170"/>
                </a:lnTo>
                <a:lnTo>
                  <a:pt x="0" y="6791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4509074" y="7660195"/>
            <a:ext cx="679170" cy="679170"/>
          </a:xfrm>
          <a:custGeom>
            <a:avLst/>
            <a:gdLst/>
            <a:ahLst/>
            <a:cxnLst/>
            <a:rect r="r" b="b" t="t" l="l"/>
            <a:pathLst>
              <a:path h="679170" w="679170">
                <a:moveTo>
                  <a:pt x="0" y="0"/>
                </a:moveTo>
                <a:lnTo>
                  <a:pt x="679169" y="0"/>
                </a:lnTo>
                <a:lnTo>
                  <a:pt x="679169" y="679170"/>
                </a:lnTo>
                <a:lnTo>
                  <a:pt x="0" y="67917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9061649" y="4391102"/>
            <a:ext cx="679170" cy="679170"/>
          </a:xfrm>
          <a:custGeom>
            <a:avLst/>
            <a:gdLst/>
            <a:ahLst/>
            <a:cxnLst/>
            <a:rect r="r" b="b" t="t" l="l"/>
            <a:pathLst>
              <a:path h="679170" w="679170">
                <a:moveTo>
                  <a:pt x="0" y="0"/>
                </a:moveTo>
                <a:lnTo>
                  <a:pt x="679170" y="0"/>
                </a:lnTo>
                <a:lnTo>
                  <a:pt x="679170" y="679169"/>
                </a:lnTo>
                <a:lnTo>
                  <a:pt x="0" y="67916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005FC2"/>
        </a:solidFill>
      </p:bgPr>
    </p:bg>
    <p:spTree>
      <p:nvGrpSpPr>
        <p:cNvPr id="1" name=""/>
        <p:cNvGrpSpPr/>
        <p:nvPr/>
      </p:nvGrpSpPr>
      <p:grpSpPr>
        <a:xfrm>
          <a:off x="0" y="0"/>
          <a:ext cx="0" cy="0"/>
          <a:chOff x="0" y="0"/>
          <a:chExt cx="0" cy="0"/>
        </a:xfrm>
      </p:grpSpPr>
      <p:grpSp>
        <p:nvGrpSpPr>
          <p:cNvPr name="Group 2" id="2"/>
          <p:cNvGrpSpPr/>
          <p:nvPr/>
        </p:nvGrpSpPr>
        <p:grpSpPr>
          <a:xfrm rot="0">
            <a:off x="1456048" y="3785953"/>
            <a:ext cx="10894849" cy="4698362"/>
            <a:chOff x="0" y="0"/>
            <a:chExt cx="971835" cy="419100"/>
          </a:xfrm>
        </p:grpSpPr>
        <p:sp>
          <p:nvSpPr>
            <p:cNvPr name="Freeform 3" id="3"/>
            <p:cNvSpPr/>
            <p:nvPr/>
          </p:nvSpPr>
          <p:spPr>
            <a:xfrm flipH="false" flipV="false" rot="0">
              <a:off x="0" y="0"/>
              <a:ext cx="971835" cy="419100"/>
            </a:xfrm>
            <a:custGeom>
              <a:avLst/>
              <a:gdLst/>
              <a:ahLst/>
              <a:cxnLst/>
              <a:rect r="r" b="b" t="t" l="l"/>
              <a:pathLst>
                <a:path h="419100" w="971835">
                  <a:moveTo>
                    <a:pt x="0" y="0"/>
                  </a:moveTo>
                  <a:lnTo>
                    <a:pt x="971835" y="0"/>
                  </a:lnTo>
                  <a:lnTo>
                    <a:pt x="971835" y="419100"/>
                  </a:lnTo>
                  <a:lnTo>
                    <a:pt x="0" y="419100"/>
                  </a:lnTo>
                  <a:close/>
                </a:path>
              </a:pathLst>
            </a:custGeom>
            <a:solidFill>
              <a:srgbClr val="005FC2"/>
            </a:solidFill>
          </p:spPr>
        </p:sp>
        <p:sp>
          <p:nvSpPr>
            <p:cNvPr name="TextBox 4" id="4"/>
            <p:cNvSpPr txBox="true"/>
            <p:nvPr/>
          </p:nvSpPr>
          <p:spPr>
            <a:xfrm>
              <a:off x="0" y="-38100"/>
              <a:ext cx="971835" cy="457200"/>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Freeform 5" id="5"/>
          <p:cNvSpPr/>
          <p:nvPr/>
        </p:nvSpPr>
        <p:spPr>
          <a:xfrm flipH="false" flipV="false" rot="-5400000">
            <a:off x="-4714869" y="1520888"/>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6" id="6"/>
          <p:cNvGrpSpPr/>
          <p:nvPr/>
        </p:nvGrpSpPr>
        <p:grpSpPr>
          <a:xfrm rot="0">
            <a:off x="1372344" y="2690387"/>
            <a:ext cx="5246370" cy="5793929"/>
            <a:chOff x="0" y="0"/>
            <a:chExt cx="812800" cy="897631"/>
          </a:xfrm>
        </p:grpSpPr>
        <p:sp>
          <p:nvSpPr>
            <p:cNvPr name="Freeform 7" id="7"/>
            <p:cNvSpPr/>
            <p:nvPr/>
          </p:nvSpPr>
          <p:spPr>
            <a:xfrm flipH="false" flipV="false" rot="0">
              <a:off x="0" y="0"/>
              <a:ext cx="812800" cy="897631"/>
            </a:xfrm>
            <a:custGeom>
              <a:avLst/>
              <a:gdLst/>
              <a:ahLst/>
              <a:cxnLst/>
              <a:rect r="r" b="b" t="t" l="l"/>
              <a:pathLst>
                <a:path h="897631" w="812800">
                  <a:moveTo>
                    <a:pt x="33940" y="0"/>
                  </a:moveTo>
                  <a:lnTo>
                    <a:pt x="778860" y="0"/>
                  </a:lnTo>
                  <a:cubicBezTo>
                    <a:pt x="797604" y="0"/>
                    <a:pt x="812800" y="15196"/>
                    <a:pt x="812800" y="33940"/>
                  </a:cubicBezTo>
                  <a:lnTo>
                    <a:pt x="812800" y="863691"/>
                  </a:lnTo>
                  <a:cubicBezTo>
                    <a:pt x="812800" y="882436"/>
                    <a:pt x="797604" y="897631"/>
                    <a:pt x="778860" y="897631"/>
                  </a:cubicBezTo>
                  <a:lnTo>
                    <a:pt x="33940" y="897631"/>
                  </a:lnTo>
                  <a:cubicBezTo>
                    <a:pt x="15196" y="897631"/>
                    <a:pt x="0" y="882436"/>
                    <a:pt x="0" y="863691"/>
                  </a:cubicBezTo>
                  <a:lnTo>
                    <a:pt x="0" y="33940"/>
                  </a:lnTo>
                  <a:cubicBezTo>
                    <a:pt x="0" y="15196"/>
                    <a:pt x="15196" y="0"/>
                    <a:pt x="33940" y="0"/>
                  </a:cubicBezTo>
                  <a:close/>
                </a:path>
              </a:pathLst>
            </a:custGeom>
            <a:blipFill>
              <a:blip r:embed="rId4"/>
              <a:stretch>
                <a:fillRect l="-5218" t="0" r="-5218" b="0"/>
              </a:stretch>
            </a:blipFill>
          </p:spPr>
        </p:sp>
      </p:grpSp>
      <p:sp>
        <p:nvSpPr>
          <p:cNvPr name="TextBox 8" id="8"/>
          <p:cNvSpPr txBox="true"/>
          <p:nvPr/>
        </p:nvSpPr>
        <p:spPr>
          <a:xfrm rot="0">
            <a:off x="7247116" y="5291155"/>
            <a:ext cx="9668540" cy="2793111"/>
          </a:xfrm>
          <a:prstGeom prst="rect">
            <a:avLst/>
          </a:prstGeom>
        </p:spPr>
        <p:txBody>
          <a:bodyPr anchor="t" rtlCol="false" tIns="0" lIns="0" bIns="0" rIns="0">
            <a:spAutoFit/>
          </a:bodyPr>
          <a:lstStyle/>
          <a:p>
            <a:pPr algn="l" marL="0" indent="0" lvl="0">
              <a:lnSpc>
                <a:spcPts val="3191"/>
              </a:lnSpc>
            </a:pPr>
            <a:r>
              <a:rPr lang="en-US" sz="2799">
                <a:solidFill>
                  <a:srgbClr val="FFFFFF"/>
                </a:solidFill>
                <a:latin typeface="Koho"/>
                <a:ea typeface="Koho"/>
                <a:cs typeface="Koho"/>
                <a:sym typeface="Koho"/>
              </a:rPr>
              <a:t>CodePulse follows a 3-Tier Architecture Model for scalable and secure performance analysis. The Presentation Layer uses Next.js UI for intuitive dashboards. The Application Layer leverages Spring Boot APIs for data processing and recommendation logic. The Data Layer utilizes PostgreSQL for reliable data storage. JWT authentication ensures secure communication between all layers.</a:t>
            </a:r>
          </a:p>
        </p:txBody>
      </p:sp>
      <p:sp>
        <p:nvSpPr>
          <p:cNvPr name="TextBox 9" id="9"/>
          <p:cNvSpPr txBox="true"/>
          <p:nvPr/>
        </p:nvSpPr>
        <p:spPr>
          <a:xfrm rot="0">
            <a:off x="7247116" y="2699952"/>
            <a:ext cx="8282278" cy="2314535"/>
          </a:xfrm>
          <a:prstGeom prst="rect">
            <a:avLst/>
          </a:prstGeom>
        </p:spPr>
        <p:txBody>
          <a:bodyPr anchor="t" rtlCol="false" tIns="0" lIns="0" bIns="0" rIns="0">
            <a:spAutoFit/>
          </a:bodyPr>
          <a:lstStyle/>
          <a:p>
            <a:pPr algn="l" marL="0" indent="0" lvl="0">
              <a:lnSpc>
                <a:spcPts val="8543"/>
              </a:lnSpc>
            </a:pPr>
            <a:r>
              <a:rPr lang="en-US" b="true" sz="7494">
                <a:solidFill>
                  <a:srgbClr val="FFFFFF"/>
                </a:solidFill>
                <a:latin typeface="Neo Tech Bold"/>
                <a:ea typeface="Neo Tech Bold"/>
                <a:cs typeface="Neo Tech Bold"/>
                <a:sym typeface="Neo Tech Bold"/>
              </a:rPr>
              <a:t>SYSTEM ARCHITECTURE</a:t>
            </a:r>
          </a:p>
        </p:txBody>
      </p:sp>
      <p:sp>
        <p:nvSpPr>
          <p:cNvPr name="Freeform 10" id="10"/>
          <p:cNvSpPr/>
          <p:nvPr/>
        </p:nvSpPr>
        <p:spPr>
          <a:xfrm flipH="false" flipV="false" rot="-8596510">
            <a:off x="11034248" y="-1404779"/>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5619092" y="1105270"/>
            <a:ext cx="13836366" cy="7245224"/>
          </a:xfrm>
          <a:custGeom>
            <a:avLst/>
            <a:gdLst/>
            <a:ahLst/>
            <a:cxnLst/>
            <a:rect r="r" b="b" t="t" l="l"/>
            <a:pathLst>
              <a:path h="7245224" w="13836366">
                <a:moveTo>
                  <a:pt x="0" y="0"/>
                </a:moveTo>
                <a:lnTo>
                  <a:pt x="13836366" y="0"/>
                </a:lnTo>
                <a:lnTo>
                  <a:pt x="13836366" y="7245224"/>
                </a:lnTo>
                <a:lnTo>
                  <a:pt x="0" y="724522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1870799" y="4002284"/>
            <a:ext cx="4855962" cy="4936337"/>
          </a:xfrm>
          <a:custGeom>
            <a:avLst/>
            <a:gdLst/>
            <a:ahLst/>
            <a:cxnLst/>
            <a:rect r="r" b="b" t="t" l="l"/>
            <a:pathLst>
              <a:path h="4936337" w="4855962">
                <a:moveTo>
                  <a:pt x="0" y="0"/>
                </a:moveTo>
                <a:lnTo>
                  <a:pt x="4855962" y="0"/>
                </a:lnTo>
                <a:lnTo>
                  <a:pt x="4855962" y="4936337"/>
                </a:lnTo>
                <a:lnTo>
                  <a:pt x="0" y="4936337"/>
                </a:lnTo>
                <a:lnTo>
                  <a:pt x="0" y="0"/>
                </a:lnTo>
                <a:close/>
              </a:path>
            </a:pathLst>
          </a:custGeom>
          <a:blipFill>
            <a:blip r:embed="rId4"/>
            <a:stretch>
              <a:fillRect l="0" t="0" r="0" b="0"/>
            </a:stretch>
          </a:blipFill>
        </p:spPr>
      </p:sp>
      <p:sp>
        <p:nvSpPr>
          <p:cNvPr name="TextBox 4" id="4"/>
          <p:cNvSpPr txBox="true"/>
          <p:nvPr/>
        </p:nvSpPr>
        <p:spPr>
          <a:xfrm rot="0">
            <a:off x="5614835" y="2058343"/>
            <a:ext cx="10894849" cy="1238210"/>
          </a:xfrm>
          <a:prstGeom prst="rect">
            <a:avLst/>
          </a:prstGeom>
        </p:spPr>
        <p:txBody>
          <a:bodyPr anchor="t" rtlCol="false" tIns="0" lIns="0" bIns="0" rIns="0">
            <a:spAutoFit/>
          </a:bodyPr>
          <a:lstStyle/>
          <a:p>
            <a:pPr algn="l" marL="0" indent="0" lvl="0">
              <a:lnSpc>
                <a:spcPts val="8543"/>
              </a:lnSpc>
            </a:pPr>
            <a:r>
              <a:rPr lang="en-US" b="true" sz="7494">
                <a:solidFill>
                  <a:srgbClr val="005FC2"/>
                </a:solidFill>
                <a:latin typeface="Neo Tech Bold"/>
                <a:ea typeface="Neo Tech Bold"/>
                <a:cs typeface="Neo Tech Bold"/>
                <a:sym typeface="Neo Tech Bold"/>
              </a:rPr>
              <a:t>REFERENCES</a:t>
            </a:r>
          </a:p>
        </p:txBody>
      </p:sp>
      <p:sp>
        <p:nvSpPr>
          <p:cNvPr name="TextBox 5" id="5"/>
          <p:cNvSpPr txBox="true"/>
          <p:nvPr/>
        </p:nvSpPr>
        <p:spPr>
          <a:xfrm rot="0">
            <a:off x="5614835" y="3879436"/>
            <a:ext cx="6552437" cy="4722315"/>
          </a:xfrm>
          <a:prstGeom prst="rect">
            <a:avLst/>
          </a:prstGeom>
        </p:spPr>
        <p:txBody>
          <a:bodyPr anchor="t" rtlCol="false" tIns="0" lIns="0" bIns="0" rIns="0">
            <a:spAutoFit/>
          </a:bodyPr>
          <a:lstStyle/>
          <a:p>
            <a:pPr algn="l" marL="480687" indent="-240344" lvl="1">
              <a:lnSpc>
                <a:spcPts val="2538"/>
              </a:lnSpc>
              <a:buAutoNum type="arabicPeriod" startAt="1"/>
            </a:pPr>
            <a:r>
              <a:rPr lang="en-US" sz="2226">
                <a:solidFill>
                  <a:srgbClr val="005FC2"/>
                </a:solidFill>
                <a:latin typeface="Koho"/>
                <a:ea typeface="Koho"/>
                <a:cs typeface="Koho"/>
                <a:sym typeface="Koho"/>
              </a:rPr>
              <a:t>Codeforces API Documentation</a:t>
            </a:r>
          </a:p>
          <a:p>
            <a:pPr algn="l" marL="480687" indent="-240344" lvl="1">
              <a:lnSpc>
                <a:spcPts val="2538"/>
              </a:lnSpc>
              <a:buAutoNum type="arabicPeriod" startAt="1"/>
            </a:pPr>
            <a:r>
              <a:rPr lang="en-US" sz="2226">
                <a:solidFill>
                  <a:srgbClr val="005FC2"/>
                </a:solidFill>
                <a:latin typeface="Koho"/>
                <a:ea typeface="Koho"/>
                <a:cs typeface="Koho"/>
                <a:sym typeface="Koho"/>
              </a:rPr>
              <a:t>https://codeforces.com/apiHelp</a:t>
            </a:r>
          </a:p>
          <a:p>
            <a:pPr algn="l" marL="480687" indent="-240344" lvl="1">
              <a:lnSpc>
                <a:spcPts val="2538"/>
              </a:lnSpc>
              <a:buAutoNum type="arabicPeriod" startAt="1"/>
            </a:pPr>
            <a:r>
              <a:rPr lang="en-US" sz="2226">
                <a:solidFill>
                  <a:srgbClr val="005FC2"/>
                </a:solidFill>
                <a:latin typeface="Koho"/>
                <a:ea typeface="Koho"/>
                <a:cs typeface="Koho"/>
                <a:sym typeface="Koho"/>
              </a:rPr>
              <a:t>LeetCode GraphQL API Documentation</a:t>
            </a:r>
          </a:p>
          <a:p>
            <a:pPr algn="l" marL="480687" indent="-240344" lvl="1">
              <a:lnSpc>
                <a:spcPts val="2538"/>
              </a:lnSpc>
              <a:buAutoNum type="arabicPeriod" startAt="1"/>
            </a:pPr>
            <a:r>
              <a:rPr lang="en-US" sz="2226">
                <a:solidFill>
                  <a:srgbClr val="005FC2"/>
                </a:solidFill>
                <a:latin typeface="Koho"/>
                <a:ea typeface="Koho"/>
                <a:cs typeface="Koho"/>
                <a:sym typeface="Koho"/>
              </a:rPr>
              <a:t>https://leetcode.com/api</a:t>
            </a:r>
          </a:p>
          <a:p>
            <a:pPr algn="l" marL="480687" indent="-240344" lvl="1">
              <a:lnSpc>
                <a:spcPts val="2538"/>
              </a:lnSpc>
              <a:buAutoNum type="arabicPeriod" startAt="1"/>
            </a:pPr>
            <a:r>
              <a:rPr lang="en-US" sz="2226">
                <a:solidFill>
                  <a:srgbClr val="005FC2"/>
                </a:solidFill>
                <a:latin typeface="Koho"/>
                <a:ea typeface="Koho"/>
                <a:cs typeface="Koho"/>
                <a:sym typeface="Koho"/>
              </a:rPr>
              <a:t>Spring Boot Official Documentation</a:t>
            </a:r>
          </a:p>
          <a:p>
            <a:pPr algn="l" marL="480687" indent="-240344" lvl="1">
              <a:lnSpc>
                <a:spcPts val="2538"/>
              </a:lnSpc>
              <a:buAutoNum type="arabicPeriod" startAt="1"/>
            </a:pPr>
            <a:r>
              <a:rPr lang="en-US" sz="2226">
                <a:solidFill>
                  <a:srgbClr val="005FC2"/>
                </a:solidFill>
                <a:latin typeface="Koho"/>
                <a:ea typeface="Koho"/>
                <a:cs typeface="Koho"/>
                <a:sym typeface="Koho"/>
              </a:rPr>
              <a:t>https://spring.io/projects/spring-boot</a:t>
            </a:r>
          </a:p>
          <a:p>
            <a:pPr algn="l" marL="480687" indent="-240344" lvl="1">
              <a:lnSpc>
                <a:spcPts val="2538"/>
              </a:lnSpc>
              <a:buAutoNum type="arabicPeriod" startAt="1"/>
            </a:pPr>
            <a:r>
              <a:rPr lang="en-US" sz="2226">
                <a:solidFill>
                  <a:srgbClr val="005FC2"/>
                </a:solidFill>
                <a:latin typeface="Koho"/>
                <a:ea typeface="Koho"/>
                <a:cs typeface="Koho"/>
                <a:sym typeface="Koho"/>
              </a:rPr>
              <a:t>Next.js Official Documentation</a:t>
            </a:r>
          </a:p>
          <a:p>
            <a:pPr algn="l" marL="480687" indent="-240344" lvl="1">
              <a:lnSpc>
                <a:spcPts val="2538"/>
              </a:lnSpc>
              <a:buAutoNum type="arabicPeriod" startAt="1"/>
            </a:pPr>
            <a:r>
              <a:rPr lang="en-US" sz="2226">
                <a:solidFill>
                  <a:srgbClr val="005FC2"/>
                </a:solidFill>
                <a:latin typeface="Koho"/>
                <a:ea typeface="Koho"/>
                <a:cs typeface="Koho"/>
                <a:sym typeface="Koho"/>
              </a:rPr>
              <a:t>https://nextjs.org/docs</a:t>
            </a:r>
          </a:p>
          <a:p>
            <a:pPr algn="l" marL="480687" indent="-240344" lvl="1">
              <a:lnSpc>
                <a:spcPts val="2538"/>
              </a:lnSpc>
              <a:buAutoNum type="arabicPeriod" startAt="1"/>
            </a:pPr>
            <a:r>
              <a:rPr lang="en-US" sz="2226">
                <a:solidFill>
                  <a:srgbClr val="005FC2"/>
                </a:solidFill>
                <a:latin typeface="Koho"/>
                <a:ea typeface="Koho"/>
                <a:cs typeface="Koho"/>
                <a:sym typeface="Koho"/>
              </a:rPr>
              <a:t>Learning Analytics Research Papers</a:t>
            </a:r>
          </a:p>
          <a:p>
            <a:pPr algn="l" marL="480687" indent="-240344" lvl="1">
              <a:lnSpc>
                <a:spcPts val="2538"/>
              </a:lnSpc>
              <a:buAutoNum type="arabicPeriod" startAt="1"/>
            </a:pPr>
            <a:r>
              <a:rPr lang="en-US" sz="2226">
                <a:solidFill>
                  <a:srgbClr val="005FC2"/>
                </a:solidFill>
                <a:latin typeface="Koho"/>
                <a:ea typeface="Koho"/>
                <a:cs typeface="Koho"/>
                <a:sym typeface="Koho"/>
              </a:rPr>
              <a:t>Journal of Learning Analytics</a:t>
            </a:r>
          </a:p>
          <a:p>
            <a:pPr algn="l" marL="480687" indent="-240344" lvl="1">
              <a:lnSpc>
                <a:spcPts val="2538"/>
              </a:lnSpc>
              <a:buAutoNum type="arabicPeriod" startAt="1"/>
            </a:pPr>
            <a:r>
              <a:rPr lang="en-US" sz="2226">
                <a:solidFill>
                  <a:srgbClr val="005FC2"/>
                </a:solidFill>
                <a:latin typeface="Koho"/>
                <a:ea typeface="Koho"/>
                <a:cs typeface="Koho"/>
                <a:sym typeface="Koho"/>
              </a:rPr>
              <a:t>Recommendation Systems: Principles and Practice</a:t>
            </a:r>
          </a:p>
          <a:p>
            <a:pPr algn="l" marL="480687" indent="-240344" lvl="1">
              <a:lnSpc>
                <a:spcPts val="2538"/>
              </a:lnSpc>
              <a:buAutoNum type="arabicPeriod" startAt="1"/>
            </a:pPr>
            <a:r>
              <a:rPr lang="en-US" sz="2226">
                <a:solidFill>
                  <a:srgbClr val="005FC2"/>
                </a:solidFill>
                <a:latin typeface="Koho"/>
                <a:ea typeface="Koho"/>
                <a:cs typeface="Koho"/>
                <a:sym typeface="Koho"/>
              </a:rPr>
              <a:t>ACM Computing Surveys</a:t>
            </a:r>
          </a:p>
          <a:p>
            <a:pPr algn="l" marL="480687" indent="-240344" lvl="1">
              <a:lnSpc>
                <a:spcPts val="2538"/>
              </a:lnSpc>
              <a:buAutoNum type="arabicPeriod" startAt="1"/>
            </a:pPr>
            <a:r>
              <a:rPr lang="en-US" sz="2226">
                <a:solidFill>
                  <a:srgbClr val="005FC2"/>
                </a:solidFill>
                <a:latin typeface="Koho"/>
                <a:ea typeface="Koho"/>
                <a:cs typeface="Koho"/>
                <a:sym typeface="Koho"/>
              </a:rPr>
              <a:t>PostgreSQL Documentation</a:t>
            </a:r>
          </a:p>
          <a:p>
            <a:pPr algn="l" marL="480687" indent="-240344" lvl="1">
              <a:lnSpc>
                <a:spcPts val="2538"/>
              </a:lnSpc>
              <a:buAutoNum type="arabicPeriod" startAt="1"/>
            </a:pPr>
            <a:r>
              <a:rPr lang="en-US" sz="2226">
                <a:solidFill>
                  <a:srgbClr val="005FC2"/>
                </a:solidFill>
                <a:latin typeface="Koho"/>
                <a:ea typeface="Koho"/>
                <a:cs typeface="Koho"/>
                <a:sym typeface="Koho"/>
              </a:rPr>
              <a:t>https://www.postgresql.org/docs</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222833" y="3714920"/>
            <a:ext cx="9842334" cy="2002862"/>
          </a:xfrm>
          <a:prstGeom prst="rect">
            <a:avLst/>
          </a:prstGeom>
        </p:spPr>
        <p:txBody>
          <a:bodyPr anchor="t" rtlCol="false" tIns="0" lIns="0" bIns="0" rIns="0">
            <a:spAutoFit/>
          </a:bodyPr>
          <a:lstStyle/>
          <a:p>
            <a:pPr algn="ctr" marL="0" indent="0" lvl="0">
              <a:lnSpc>
                <a:spcPts val="7365"/>
              </a:lnSpc>
            </a:pPr>
            <a:r>
              <a:rPr lang="en-US" b="true" sz="6460">
                <a:solidFill>
                  <a:srgbClr val="005FC2"/>
                </a:solidFill>
                <a:latin typeface="Neo Tech Bold"/>
                <a:ea typeface="Neo Tech Bold"/>
                <a:cs typeface="Neo Tech Bold"/>
                <a:sym typeface="Neo Tech Bold"/>
              </a:rPr>
              <a:t>THANK YOU FOR YOUR ATTENTION!</a:t>
            </a:r>
          </a:p>
        </p:txBody>
      </p:sp>
      <p:sp>
        <p:nvSpPr>
          <p:cNvPr name="Freeform 3" id="3"/>
          <p:cNvSpPr/>
          <p:nvPr/>
        </p:nvSpPr>
        <p:spPr>
          <a:xfrm flipH="true" flipV="false" rot="0">
            <a:off x="13499617" y="-3375063"/>
            <a:ext cx="7161170" cy="10230243"/>
          </a:xfrm>
          <a:custGeom>
            <a:avLst/>
            <a:gdLst/>
            <a:ahLst/>
            <a:cxnLst/>
            <a:rect r="r" b="b" t="t" l="l"/>
            <a:pathLst>
              <a:path h="10230243" w="7161170">
                <a:moveTo>
                  <a:pt x="7161170" y="0"/>
                </a:moveTo>
                <a:lnTo>
                  <a:pt x="0" y="0"/>
                </a:lnTo>
                <a:lnTo>
                  <a:pt x="0" y="10230242"/>
                </a:lnTo>
                <a:lnTo>
                  <a:pt x="7161170" y="10230242"/>
                </a:lnTo>
                <a:lnTo>
                  <a:pt x="716117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4961309" y="5401099"/>
            <a:ext cx="8365383" cy="630547"/>
          </a:xfrm>
          <a:prstGeom prst="rect">
            <a:avLst/>
          </a:prstGeom>
        </p:spPr>
        <p:txBody>
          <a:bodyPr anchor="t" rtlCol="false" tIns="0" lIns="0" bIns="0" rIns="0">
            <a:spAutoFit/>
          </a:bodyPr>
          <a:lstStyle/>
          <a:p>
            <a:pPr algn="ctr" marL="0" indent="0" lvl="0">
              <a:lnSpc>
                <a:spcPts val="2510"/>
              </a:lnSpc>
            </a:pPr>
            <a:r>
              <a:rPr lang="en-US" b="true" sz="2202">
                <a:solidFill>
                  <a:srgbClr val="005FC2"/>
                </a:solidFill>
                <a:latin typeface="Koho Bold"/>
                <a:ea typeface="Koho Bold"/>
                <a:cs typeface="Koho Bold"/>
                <a:sym typeface="Koho Bold"/>
              </a:rPr>
              <a:t>We Welcome Your Questions</a:t>
            </a:r>
          </a:p>
          <a:p>
            <a:pPr algn="ctr" marL="0" indent="0" lvl="0">
              <a:lnSpc>
                <a:spcPts val="2510"/>
              </a:lnSpc>
            </a:pPr>
            <a:r>
              <a:rPr lang="en-US" b="true" sz="2202">
                <a:solidFill>
                  <a:srgbClr val="005FC2"/>
                </a:solidFill>
                <a:latin typeface="Koho Bold"/>
                <a:ea typeface="Koho Bold"/>
                <a:cs typeface="Koho Bold"/>
                <a:sym typeface="Koho Bold"/>
              </a:rPr>
              <a:t>Abdus Salam Islam Badhon | University of Dhaka</a:t>
            </a:r>
          </a:p>
        </p:txBody>
      </p:sp>
      <p:sp>
        <p:nvSpPr>
          <p:cNvPr name="Freeform 5" id="5"/>
          <p:cNvSpPr/>
          <p:nvPr/>
        </p:nvSpPr>
        <p:spPr>
          <a:xfrm flipH="false" flipV="true" rot="-151067">
            <a:off x="-1812924" y="4400378"/>
            <a:ext cx="7161170" cy="10230243"/>
          </a:xfrm>
          <a:custGeom>
            <a:avLst/>
            <a:gdLst/>
            <a:ahLst/>
            <a:cxnLst/>
            <a:rect r="r" b="b" t="t" l="l"/>
            <a:pathLst>
              <a:path h="10230243" w="7161170">
                <a:moveTo>
                  <a:pt x="0" y="10230242"/>
                </a:moveTo>
                <a:lnTo>
                  <a:pt x="7161170" y="10230242"/>
                </a:lnTo>
                <a:lnTo>
                  <a:pt x="7161170" y="0"/>
                </a:lnTo>
                <a:lnTo>
                  <a:pt x="0" y="0"/>
                </a:lnTo>
                <a:lnTo>
                  <a:pt x="0" y="10230242"/>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325238" y="-1294162"/>
            <a:ext cx="7793442" cy="4080930"/>
          </a:xfrm>
          <a:custGeom>
            <a:avLst/>
            <a:gdLst/>
            <a:ahLst/>
            <a:cxnLst/>
            <a:rect r="r" b="b" t="t" l="l"/>
            <a:pathLst>
              <a:path h="4080930" w="7793442">
                <a:moveTo>
                  <a:pt x="0" y="0"/>
                </a:moveTo>
                <a:lnTo>
                  <a:pt x="7793442" y="0"/>
                </a:lnTo>
                <a:lnTo>
                  <a:pt x="7793442" y="4080930"/>
                </a:lnTo>
                <a:lnTo>
                  <a:pt x="0" y="408093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0494558" y="7817332"/>
            <a:ext cx="7793442" cy="4080930"/>
          </a:xfrm>
          <a:custGeom>
            <a:avLst/>
            <a:gdLst/>
            <a:ahLst/>
            <a:cxnLst/>
            <a:rect r="r" b="b" t="t" l="l"/>
            <a:pathLst>
              <a:path h="4080930" w="7793442">
                <a:moveTo>
                  <a:pt x="0" y="0"/>
                </a:moveTo>
                <a:lnTo>
                  <a:pt x="7793442" y="0"/>
                </a:lnTo>
                <a:lnTo>
                  <a:pt x="7793442" y="4080930"/>
                </a:lnTo>
                <a:lnTo>
                  <a:pt x="0" y="408093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DAHHpbWnWY8</dc:identifier>
  <dcterms:modified xsi:type="dcterms:W3CDTF">2011-08-01T06:04:30Z</dcterms:modified>
  <cp:revision>1</cp:revision>
</cp:coreProperties>
</file>